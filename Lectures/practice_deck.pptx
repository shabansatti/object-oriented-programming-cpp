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6" r:id="rId50"/>
    <p:sldId id="304" r:id="rId5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66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6765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9AE5C-EE97-606E-4170-B63F8734A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C1A692-EE32-3CFF-2AEA-669F17B87B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FDA8E4-3103-B8E9-535B-46E08ED66E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7CCDEF-BFCE-7092-B678-BFD4C71FF1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7891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457200" y="1417320"/>
            <a:ext cx="91440" cy="19202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777240" y="1325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PRACTICE DECK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645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C++ OOP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777240" y="2606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Pointers · References · Inheritance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777240" y="3703320"/>
            <a:ext cx="6400800" cy="1097280"/>
          </a:xfrm>
          <a:prstGeom prst="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941832" y="3813048"/>
            <a:ext cx="64008" cy="6400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1106424" y="3813048"/>
            <a:ext cx="64008" cy="6400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Shape 10"/>
          <p:cNvSpPr/>
          <p:nvPr/>
        </p:nvSpPr>
        <p:spPr>
          <a:xfrm>
            <a:off x="1271016" y="3813048"/>
            <a:ext cx="64008" cy="6400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1005840" y="3995928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Read · predict · check.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 o;  Object* p = &amp;o;   p-&gt;fn();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411480"/>
            <a:ext cx="914400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7772400" y="45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 core OOP concepts.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365760" y="1691640"/>
            <a:ext cx="1965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365760" y="1691640"/>
            <a:ext cx="64008" cy="7772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548640" y="1737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198424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Object Pointer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478024" y="1691640"/>
            <a:ext cx="1965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2478024" y="1691640"/>
            <a:ext cx="64008" cy="7772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2660904" y="1737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60904" y="198424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Array Pointer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90288" y="1691640"/>
            <a:ext cx="1965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Shape 15"/>
          <p:cNvSpPr/>
          <p:nvPr/>
        </p:nvSpPr>
        <p:spPr>
          <a:xfrm>
            <a:off x="4590288" y="1691640"/>
            <a:ext cx="64008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8" name="Text 16"/>
          <p:cNvSpPr/>
          <p:nvPr/>
        </p:nvSpPr>
        <p:spPr>
          <a:xfrm>
            <a:off x="4773168" y="1737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73168" y="198424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Pass by Value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702552" y="1691640"/>
            <a:ext cx="1965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1" name="Shape 19"/>
          <p:cNvSpPr/>
          <p:nvPr/>
        </p:nvSpPr>
        <p:spPr>
          <a:xfrm>
            <a:off x="6702552" y="1691640"/>
            <a:ext cx="64008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2" name="Text 20"/>
          <p:cNvSpPr/>
          <p:nvPr/>
        </p:nvSpPr>
        <p:spPr>
          <a:xfrm>
            <a:off x="6885432" y="1737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85432" y="198424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Pass by Reference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2615184"/>
            <a:ext cx="1965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5" name="Shape 23"/>
          <p:cNvSpPr/>
          <p:nvPr/>
        </p:nvSpPr>
        <p:spPr>
          <a:xfrm>
            <a:off x="365760" y="2615184"/>
            <a:ext cx="64008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6" name="Text 24"/>
          <p:cNvSpPr/>
          <p:nvPr/>
        </p:nvSpPr>
        <p:spPr>
          <a:xfrm>
            <a:off x="548640" y="266090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290779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Pass Const Object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478024" y="2615184"/>
            <a:ext cx="1965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9" name="Shape 27"/>
          <p:cNvSpPr/>
          <p:nvPr/>
        </p:nvSpPr>
        <p:spPr>
          <a:xfrm>
            <a:off x="2478024" y="2615184"/>
            <a:ext cx="64008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0" name="Text 28"/>
          <p:cNvSpPr/>
          <p:nvPr/>
        </p:nvSpPr>
        <p:spPr>
          <a:xfrm>
            <a:off x="2660904" y="266090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660904" y="290779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Return by Reference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590288" y="2615184"/>
            <a:ext cx="1965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3" name="Shape 31"/>
          <p:cNvSpPr/>
          <p:nvPr/>
        </p:nvSpPr>
        <p:spPr>
          <a:xfrm>
            <a:off x="4590288" y="2615184"/>
            <a:ext cx="64008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4" name="Text 32"/>
          <p:cNvSpPr/>
          <p:nvPr/>
        </p:nvSpPr>
        <p:spPr>
          <a:xfrm>
            <a:off x="4773168" y="266090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73168" y="290779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Return Same Class Obj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702552" y="2615184"/>
            <a:ext cx="1965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7" name="Shape 35"/>
          <p:cNvSpPr/>
          <p:nvPr/>
        </p:nvSpPr>
        <p:spPr>
          <a:xfrm>
            <a:off x="6702552" y="2615184"/>
            <a:ext cx="64008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8" name="Text 36"/>
          <p:cNvSpPr/>
          <p:nvPr/>
        </p:nvSpPr>
        <p:spPr>
          <a:xfrm>
            <a:off x="6885432" y="266090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885432" y="290779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Return Const Object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365760" y="3538728"/>
            <a:ext cx="1965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1" name="Shape 39"/>
          <p:cNvSpPr/>
          <p:nvPr/>
        </p:nvSpPr>
        <p:spPr>
          <a:xfrm>
            <a:off x="365760" y="3538728"/>
            <a:ext cx="64008" cy="7772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2" name="Text 40"/>
          <p:cNvSpPr/>
          <p:nvPr/>
        </p:nvSpPr>
        <p:spPr>
          <a:xfrm>
            <a:off x="548640" y="35844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48640" y="383133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Inheritance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2478024" y="3538728"/>
            <a:ext cx="1965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5" name="Shape 43"/>
          <p:cNvSpPr/>
          <p:nvPr/>
        </p:nvSpPr>
        <p:spPr>
          <a:xfrm>
            <a:off x="2478024" y="3538728"/>
            <a:ext cx="64008" cy="7772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6" name="Text 44"/>
          <p:cNvSpPr/>
          <p:nvPr/>
        </p:nvSpPr>
        <p:spPr>
          <a:xfrm>
            <a:off x="2660904" y="35844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2660904" y="383133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Function Overloading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4590288" y="3538728"/>
            <a:ext cx="1965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9" name="Shape 47"/>
          <p:cNvSpPr/>
          <p:nvPr/>
        </p:nvSpPr>
        <p:spPr>
          <a:xfrm>
            <a:off x="4590288" y="3538728"/>
            <a:ext cx="64008" cy="77724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0" name="Text 48"/>
          <p:cNvSpPr/>
          <p:nvPr/>
        </p:nvSpPr>
        <p:spPr>
          <a:xfrm>
            <a:off x="4773168" y="35844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43F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773168" y="383133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Override (non-virtual)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411480"/>
            <a:ext cx="914400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TO USE THIS DECK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5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 · Predict · Reveal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11480" y="1554480"/>
            <a:ext cx="777240" cy="7772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411480" y="15544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371600" y="1600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 THE QUESTION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Pause. Don't rush past the code.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1480" y="2514600"/>
            <a:ext cx="777240" cy="7772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411480" y="2514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371600" y="2560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PREDICT THE OUTPUT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2926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an answer in writing.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11480" y="3474720"/>
            <a:ext cx="777240" cy="7772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411480" y="3474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371600" y="3520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REVEAL &amp; EXPLAIN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3886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slide shows the answer plus the why.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411480"/>
            <a:ext cx="914400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 · OBJECT POINTER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5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58" y="594360"/>
            <a:ext cx="1435949" cy="2926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PK" dirty="0"/>
          </a:p>
        </p:txBody>
      </p:sp>
      <p:sp>
        <p:nvSpPr>
          <p:cNvPr id="7" name="Text 5"/>
          <p:cNvSpPr/>
          <p:nvPr/>
        </p:nvSpPr>
        <p:spPr>
          <a:xfrm>
            <a:off x="365760" y="594360"/>
            <a:ext cx="125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CONCEPT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96012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 object pointer holds an object's address.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65760" y="1920240"/>
            <a:ext cx="47548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spcAft>
                <a:spcPts val="400"/>
              </a:spcAft>
              <a:buNone/>
            </a:pPr>
            <a:r>
              <a:rPr lang="en-US" sz="1600" b="1" dirty="0">
                <a:ea typeface="Calibri" pitchFamily="34" charset="-122"/>
                <a:cs typeface="Calibri" pitchFamily="34" charset="-120"/>
              </a:rPr>
              <a:t>A pointer to a class object lets you store its address and access members through it. Use the arrow operator to reach members — it dereferences and selects in one step.</a:t>
            </a:r>
            <a:endParaRPr lang="en-US" sz="1600" b="1" dirty="0"/>
          </a:p>
          <a:p>
            <a:pPr marL="0" indent="0" algn="just">
              <a:spcAft>
                <a:spcPts val="400"/>
              </a:spcAft>
              <a:buNone/>
            </a:pPr>
            <a:endParaRPr lang="en-US" sz="1600" b="1" dirty="0"/>
          </a:p>
          <a:p>
            <a:pPr marL="0" indent="0" algn="just">
              <a:spcAft>
                <a:spcPts val="400"/>
              </a:spcAft>
              <a:buNone/>
            </a:pPr>
            <a:r>
              <a:rPr lang="en-US" sz="1600" b="1" dirty="0">
                <a:ea typeface="Calibri" pitchFamily="34" charset="-122"/>
                <a:cs typeface="Calibri" pitchFamily="34" charset="-120"/>
              </a:rPr>
              <a:t>The arrow operator p-&gt;m is shorthand for (*p).m. Always make sure the pointer points somewhere valid before dereferencing.</a:t>
            </a:r>
            <a:endParaRPr lang="en-US" sz="1600" b="1" dirty="0"/>
          </a:p>
        </p:txBody>
      </p:sp>
      <p:sp>
        <p:nvSpPr>
          <p:cNvPr id="10" name="Shape 8"/>
          <p:cNvSpPr/>
          <p:nvPr/>
        </p:nvSpPr>
        <p:spPr>
          <a:xfrm>
            <a:off x="5257800" y="1920240"/>
            <a:ext cx="3520440" cy="2331720"/>
          </a:xfrm>
          <a:prstGeom prst="rect">
            <a:avLst/>
          </a:prstGeom>
          <a:solidFill>
            <a:schemeClr val="bg1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5422392" y="2029968"/>
            <a:ext cx="64008" cy="6400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Shape 10"/>
          <p:cNvSpPr/>
          <p:nvPr/>
        </p:nvSpPr>
        <p:spPr>
          <a:xfrm>
            <a:off x="5586984" y="2029968"/>
            <a:ext cx="64008" cy="6400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5751576" y="2029968"/>
            <a:ext cx="64008" cy="6400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5486400" y="2212848"/>
            <a:ext cx="3063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class Box {</a:t>
            </a:r>
            <a:endParaRPr lang="en-US" sz="12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2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int w = 10;</a:t>
            </a:r>
            <a:endParaRPr lang="en-US" sz="12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void show() { cout &lt;&lt; w; }</a:t>
            </a:r>
            <a:endParaRPr lang="en-US" sz="12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2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2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Box b;</a:t>
            </a:r>
            <a:endParaRPr lang="en-US" sz="12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Box* p = &amp;b;     // pointer to b</a:t>
            </a:r>
            <a:endParaRPr lang="en-US" sz="12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p-&gt;w = 99;       // (*p).w = 99</a:t>
            </a:r>
            <a:endParaRPr lang="en-US" sz="12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p-&gt;show();       // prints 99</a:t>
            </a:r>
            <a:endParaRPr lang="en-US" sz="1200" b="1" dirty="0">
              <a:latin typeface="Consolas" panose="020B0609020204030204" pitchFamily="49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65760" y="4343400"/>
            <a:ext cx="841248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Shape 14"/>
          <p:cNvSpPr/>
          <p:nvPr/>
        </p:nvSpPr>
        <p:spPr>
          <a:xfrm>
            <a:off x="365760" y="4343400"/>
            <a:ext cx="137160" cy="4114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658368" y="437083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IDEA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58368" y="4535424"/>
            <a:ext cx="8092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p-&gt;m and (*p).m mean exactly the same thing</a:t>
            </a: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411480"/>
            <a:ext cx="914400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 · OBJECT POINTER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5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594360"/>
            <a:ext cx="91440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365760" y="5943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MCQ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9601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Given:  Box b;  Box* p = &amp;b;  — which line correctly sets b.w to 5?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4023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365760" y="1920240"/>
            <a:ext cx="64008" cy="1143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548640" y="192024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43000" y="192024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p.w = 5;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0" y="1920240"/>
            <a:ext cx="4023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Shape 12"/>
          <p:cNvSpPr/>
          <p:nvPr/>
        </p:nvSpPr>
        <p:spPr>
          <a:xfrm>
            <a:off x="4572000" y="1920240"/>
            <a:ext cx="64008" cy="1143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/>
          <p:nvPr/>
        </p:nvSpPr>
        <p:spPr>
          <a:xfrm>
            <a:off x="4754880" y="192024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349240" y="192024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p-&gt;w = 5;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3246120"/>
            <a:ext cx="4023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64008" cy="1143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548640" y="324612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143000" y="324612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*p-&gt;w = 5;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0" y="3246120"/>
            <a:ext cx="4023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2" name="Shape 20"/>
          <p:cNvSpPr/>
          <p:nvPr/>
        </p:nvSpPr>
        <p:spPr>
          <a:xfrm>
            <a:off x="4572000" y="3246120"/>
            <a:ext cx="64008" cy="1143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3" name="Text 21"/>
          <p:cNvSpPr/>
          <p:nvPr/>
        </p:nvSpPr>
        <p:spPr>
          <a:xfrm>
            <a:off x="4754880" y="324612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349240" y="324612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&amp;p.w = 5;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411480"/>
            <a:ext cx="914400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 · OBJECT POINTER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5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50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594360"/>
            <a:ext cx="292608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365760" y="59436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PREDICT THE OUTPUT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9601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does this print?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65760" y="1508760"/>
            <a:ext cx="8412480" cy="3108960"/>
          </a:xfrm>
          <a:prstGeom prst="rect">
            <a:avLst/>
          </a:prstGeom>
          <a:solidFill>
            <a:schemeClr val="bg1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530352" y="1618488"/>
            <a:ext cx="64008" cy="6400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694944" y="1618488"/>
            <a:ext cx="64008" cy="6400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Shape 10"/>
          <p:cNvSpPr/>
          <p:nvPr/>
        </p:nvSpPr>
        <p:spPr>
          <a:xfrm>
            <a:off x="859536" y="1618488"/>
            <a:ext cx="64008" cy="6400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594360" y="1801368"/>
            <a:ext cx="79552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class A {</a:t>
            </a:r>
            <a:endParaRPr lang="en-US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int v = 10;</a:t>
            </a:r>
            <a:endParaRPr lang="en-US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void bump() { v += 5; }</a:t>
            </a:r>
            <a:endParaRPr lang="en-US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A a;</a:t>
            </a:r>
            <a:endParaRPr lang="en-US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A* p = &amp;a;</a:t>
            </a:r>
            <a:endParaRPr lang="en-US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p-&gt;bump();</a:t>
            </a:r>
            <a:endParaRPr lang="en-US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p-&gt;bump();</a:t>
            </a:r>
            <a:endParaRPr lang="en-US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cout &lt;&lt; a.v;</a:t>
            </a:r>
            <a:endParaRPr lang="en-US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411480"/>
            <a:ext cx="914400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 · OBJECT POINTER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5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50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594360"/>
            <a:ext cx="1005840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365760" y="5943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ANSWER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9601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Answer: B  ·  Output: 20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65760" y="1691640"/>
            <a:ext cx="8412480" cy="5486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502920" y="175564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OUTPUT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463040" y="1691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2377440"/>
            <a:ext cx="8412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502920" y="2468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2743200"/>
            <a:ext cx="82296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p stores the address of a — they refer to the same object in memory.</a:t>
            </a:r>
            <a:endParaRPr lang="en-US" dirty="0"/>
          </a:p>
          <a:p>
            <a:pPr marL="0" indent="0">
              <a:spcAft>
                <a:spcPts val="600"/>
              </a:spcAft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p-&gt;bump() is the same as (*p).bump(); each call adds 5 to v.</a:t>
            </a:r>
            <a:endParaRPr lang="en-US" dirty="0"/>
          </a:p>
          <a:p>
            <a:pPr marL="0" indent="0">
              <a:spcAft>
                <a:spcPts val="600"/>
              </a:spcAft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Because there is no copy, modifying through p modifies a directly.</a:t>
            </a:r>
            <a:endParaRPr lang="en-US" dirty="0"/>
          </a:p>
          <a:p>
            <a:pPr marL="0" indent="0">
              <a:spcAft>
                <a:spcPts val="600"/>
              </a:spcAft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Two calls take v from 10 → 15 → 20.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→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411480"/>
            <a:ext cx="914400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· ARRAY POINTER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5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50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594360"/>
            <a:ext cx="1205652" cy="2926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365759" y="594360"/>
            <a:ext cx="120565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CONCEPT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96012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 array name decays to a pointer to its first element.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65760" y="1920240"/>
            <a:ext cx="47548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spcAft>
                <a:spcPts val="400"/>
              </a:spcAft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When you assign an array to a pointer, the array name decays into a pointer to its first element. Pointer arithmetic walks through the array — *(p+i) is the same as p[i].</a:t>
            </a:r>
            <a:endParaRPr lang="en-US" sz="1600" dirty="0"/>
          </a:p>
          <a:p>
            <a:pPr marL="0" indent="0" algn="just">
              <a:spcAft>
                <a:spcPts val="400"/>
              </a:spcAft>
              <a:buNone/>
            </a:pPr>
            <a:endParaRPr lang="en-US" sz="1600" dirty="0"/>
          </a:p>
          <a:p>
            <a:pPr marL="0" indent="0" algn="just">
              <a:spcAft>
                <a:spcPts val="400"/>
              </a:spcAft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functions accept arrays as plain pointers: they only ever receive the address of the first element.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257800" y="1920240"/>
            <a:ext cx="3520440" cy="233172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en-PK" b="1" dirty="0"/>
          </a:p>
        </p:txBody>
      </p:sp>
      <p:sp>
        <p:nvSpPr>
          <p:cNvPr id="11" name="Shape 9"/>
          <p:cNvSpPr/>
          <p:nvPr/>
        </p:nvSpPr>
        <p:spPr>
          <a:xfrm>
            <a:off x="5422392" y="2029968"/>
            <a:ext cx="64008" cy="6400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Shape 10"/>
          <p:cNvSpPr/>
          <p:nvPr/>
        </p:nvSpPr>
        <p:spPr>
          <a:xfrm>
            <a:off x="5586984" y="2029968"/>
            <a:ext cx="64008" cy="6400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5751576" y="2029968"/>
            <a:ext cx="64008" cy="6400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5486400" y="2212848"/>
            <a:ext cx="3063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int arr[3] = {10, 20, 30};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int* p = arr;       // same as &amp;arr[0]</a:t>
            </a:r>
            <a:endParaRPr lang="en-US" sz="1200" b="1" dirty="0"/>
          </a:p>
          <a:p>
            <a:pPr marL="0" indent="0">
              <a:buNone/>
            </a:pP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*p;         // 10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*(p+1);     // 20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p[2];       // 30</a:t>
            </a:r>
            <a:endParaRPr lang="en-US" sz="1200" b="1" dirty="0"/>
          </a:p>
          <a:p>
            <a:pPr marL="0" indent="0">
              <a:buNone/>
            </a:pP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p++;         // now points to arr[1]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*p;         // 20</a:t>
            </a:r>
            <a:endParaRPr lang="en-US" sz="1200" b="1" dirty="0"/>
          </a:p>
        </p:txBody>
      </p:sp>
      <p:sp>
        <p:nvSpPr>
          <p:cNvPr id="15" name="Shape 13"/>
          <p:cNvSpPr/>
          <p:nvPr/>
        </p:nvSpPr>
        <p:spPr>
          <a:xfrm>
            <a:off x="365760" y="4343400"/>
            <a:ext cx="841248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Shape 14"/>
          <p:cNvSpPr/>
          <p:nvPr/>
        </p:nvSpPr>
        <p:spPr>
          <a:xfrm>
            <a:off x="365760" y="4343400"/>
            <a:ext cx="137160" cy="4114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658368" y="437083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IDEA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58368" y="4535424"/>
            <a:ext cx="8092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p[i] is just *(p + i). Array indexing is pointer arithmetic in disguise.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411480"/>
            <a:ext cx="914400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· ARRAY POINTER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5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50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594360"/>
            <a:ext cx="91440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365760" y="5943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MCQ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9601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Given:  int a[5];  int* p = a;  — which is FALSE?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4023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365760" y="1920240"/>
            <a:ext cx="64008" cy="1143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548640" y="192024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43000" y="192024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and &amp;a[0] hold the same address.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0" y="1920240"/>
            <a:ext cx="4023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Shape 12"/>
          <p:cNvSpPr/>
          <p:nvPr/>
        </p:nvSpPr>
        <p:spPr>
          <a:xfrm>
            <a:off x="4572000" y="1920240"/>
            <a:ext cx="64008" cy="1143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/>
          <p:nvPr/>
        </p:nvSpPr>
        <p:spPr>
          <a:xfrm>
            <a:off x="4754880" y="192024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349240" y="192024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p[3] equals *(p + 3).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3246120"/>
            <a:ext cx="4023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64008" cy="1143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548640" y="324612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143000" y="324612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sizeof(p) equals sizeof(a).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0" y="3246120"/>
            <a:ext cx="4023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2" name="Shape 20"/>
          <p:cNvSpPr/>
          <p:nvPr/>
        </p:nvSpPr>
        <p:spPr>
          <a:xfrm>
            <a:off x="4572000" y="3246120"/>
            <a:ext cx="64008" cy="1143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3" name="Text 21"/>
          <p:cNvSpPr/>
          <p:nvPr/>
        </p:nvSpPr>
        <p:spPr>
          <a:xfrm>
            <a:off x="4754880" y="324612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349240" y="324612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+ 1 advances by sizeof(int) bytes.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411480"/>
            <a:ext cx="914400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· ARRAY POINTER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5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50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594360"/>
            <a:ext cx="292608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365760" y="59436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PREDICT THE OUTPUT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9601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gets printed?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65760" y="1508760"/>
            <a:ext cx="8412480" cy="3108960"/>
          </a:xfrm>
          <a:prstGeom prst="rect">
            <a:avLst/>
          </a:prstGeom>
          <a:solidFill>
            <a:schemeClr val="bg1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PK" b="1" dirty="0"/>
          </a:p>
        </p:txBody>
      </p:sp>
      <p:sp>
        <p:nvSpPr>
          <p:cNvPr id="10" name="Shape 8"/>
          <p:cNvSpPr/>
          <p:nvPr/>
        </p:nvSpPr>
        <p:spPr>
          <a:xfrm>
            <a:off x="530352" y="1618488"/>
            <a:ext cx="64008" cy="6400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694944" y="1618488"/>
            <a:ext cx="64008" cy="6400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Shape 10"/>
          <p:cNvSpPr/>
          <p:nvPr/>
        </p:nvSpPr>
        <p:spPr>
          <a:xfrm>
            <a:off x="859536" y="1618488"/>
            <a:ext cx="64008" cy="6400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594360" y="1801368"/>
            <a:ext cx="79552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int arr[4] = {2, 4, 6, 8};</a:t>
            </a:r>
            <a:endParaRPr lang="en-US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int* p = arr;</a:t>
            </a:r>
            <a:endParaRPr lang="en-US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int sum = 0;</a:t>
            </a:r>
            <a:endParaRPr lang="en-US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for (int i = 0; i &lt; 4; i++) {</a:t>
            </a:r>
            <a:endParaRPr lang="en-US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sum += *(p + i);</a:t>
            </a:r>
            <a:endParaRPr lang="en-US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cout &lt;&lt; sum &lt;&lt; " " &lt;&lt; p[2];</a:t>
            </a:r>
            <a:endParaRPr lang="en-US" sz="1400" b="1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411480"/>
            <a:ext cx="914400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· ARRAY POINTER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5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50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594360"/>
            <a:ext cx="1005840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365760" y="5943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ANSWER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9601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Answer: C is FALSE  ·  Output: 20 6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65760" y="1691640"/>
            <a:ext cx="8412480" cy="5486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502920" y="175564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OUTPUT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463040" y="1691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20 6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2377440"/>
            <a:ext cx="8412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502920" y="2468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2743200"/>
            <a:ext cx="82296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spcAft>
                <a:spcPts val="600"/>
              </a:spcAft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sizeof(p) is the size of a pointer (typically 8 bytes); sizeof(a) is 4 × sizeof(int) = 16 bytes — they differ.</a:t>
            </a:r>
            <a:endParaRPr lang="en-US" sz="1600" dirty="0"/>
          </a:p>
          <a:p>
            <a:pPr marL="0" indent="0" algn="just">
              <a:spcAft>
                <a:spcPts val="600"/>
              </a:spcAft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*(p + i) walks through arr[0..3]; sum = 2 + 4 + 6 + 8 = 20.</a:t>
            </a:r>
            <a:endParaRPr lang="en-US" sz="1600" dirty="0"/>
          </a:p>
          <a:p>
            <a:pPr marL="0" indent="0" algn="just">
              <a:spcAft>
                <a:spcPts val="600"/>
              </a:spcAft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p[2] is shorthand for *(p + 2) which is arr[2] = 6.</a:t>
            </a:r>
            <a:endParaRPr lang="en-US" sz="1600" dirty="0"/>
          </a:p>
          <a:p>
            <a:pPr marL="0" indent="0" algn="just">
              <a:spcAft>
                <a:spcPts val="600"/>
              </a:spcAft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Pointer arithmetic scales by element size automatically — you do NOT add raw bytes.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→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411480"/>
            <a:ext cx="91440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· PASS BY VALUE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5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50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59" y="594360"/>
            <a:ext cx="1307254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365759" y="594360"/>
            <a:ext cx="120565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CONCEPT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96012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Pass by value triggers a copy constructor call.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65760" y="1920240"/>
            <a:ext cx="47548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spcAft>
                <a:spcPts val="400"/>
              </a:spcAft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When an object parameter is declared without &amp; or *, the function gets a brand-new copy. The compiler inserts a call to the copy constructor on entry and the destructor on return.</a:t>
            </a:r>
          </a:p>
          <a:p>
            <a:pPr marL="0" indent="0" algn="just">
              <a:spcAft>
                <a:spcPts val="400"/>
              </a:spcAft>
              <a:buNone/>
            </a:pPr>
            <a:endParaRPr lang="en-US" sz="1400" dirty="0"/>
          </a:p>
          <a:p>
            <a:pPr marL="0" indent="0" algn="just">
              <a:spcAft>
                <a:spcPts val="400"/>
              </a:spcAft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Mutations inside the function affect only the copy. The original in the caller is untouched.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257800" y="1920240"/>
            <a:ext cx="3520440" cy="2331720"/>
          </a:xfrm>
          <a:prstGeom prst="rect">
            <a:avLst/>
          </a:prstGeom>
          <a:solidFill>
            <a:schemeClr val="bg1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5422392" y="2029968"/>
            <a:ext cx="64008" cy="6400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Shape 10"/>
          <p:cNvSpPr/>
          <p:nvPr/>
        </p:nvSpPr>
        <p:spPr>
          <a:xfrm>
            <a:off x="5586984" y="2029968"/>
            <a:ext cx="64008" cy="6400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5751576" y="2029968"/>
            <a:ext cx="64008" cy="6400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5486400" y="2212848"/>
            <a:ext cx="3063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class C {</a:t>
            </a:r>
            <a:endParaRPr lang="en-US" sz="11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1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1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1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C()             { cout &lt;&lt; "ctor "; }</a:t>
            </a:r>
            <a:endParaRPr lang="en-US" sz="11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1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C(const C&amp;)     { cout &lt;&lt; "copy "; }</a:t>
            </a:r>
            <a:endParaRPr lang="en-US" sz="11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1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~C()            { cout &lt;&lt; "dtor "; }</a:t>
            </a:r>
            <a:endParaRPr lang="en-US" sz="11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1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1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1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void f(C x) { /* x is a copy */ }</a:t>
            </a:r>
            <a:endParaRPr lang="en-US" sz="11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1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1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int main() { C c; f(c); }</a:t>
            </a:r>
            <a:endParaRPr lang="en-US" sz="11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1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// ctor copy dtor dtor</a:t>
            </a:r>
            <a:endParaRPr lang="en-US" sz="1100" b="1" dirty="0">
              <a:latin typeface="Consolas" panose="020B0609020204030204" pitchFamily="49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65760" y="4343400"/>
            <a:ext cx="841248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Shape 14"/>
          <p:cNvSpPr/>
          <p:nvPr/>
        </p:nvSpPr>
        <p:spPr>
          <a:xfrm>
            <a:off x="365760" y="4343400"/>
            <a:ext cx="13716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658368" y="437083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IDEA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58368" y="4535424"/>
            <a:ext cx="8092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by value = full duplicate. Costly for large objects.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411480"/>
            <a:ext cx="91440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· PASS BY VALUE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5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50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594360"/>
            <a:ext cx="91440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365760" y="5943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MCQ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9601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When you pass an object by value, which special member runs at the call site?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4023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365760" y="1920240"/>
            <a:ext cx="64008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548640" y="192024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43000" y="192024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constructor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0" y="1920240"/>
            <a:ext cx="4023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Shape 12"/>
          <p:cNvSpPr/>
          <p:nvPr/>
        </p:nvSpPr>
        <p:spPr>
          <a:xfrm>
            <a:off x="4572000" y="1920240"/>
            <a:ext cx="64008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/>
          <p:nvPr/>
        </p:nvSpPr>
        <p:spPr>
          <a:xfrm>
            <a:off x="4754880" y="192024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349240" y="192024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constructor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3246120"/>
            <a:ext cx="4023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64008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548640" y="324612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143000" y="324612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constructor (always)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0" y="3246120"/>
            <a:ext cx="4023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2" name="Shape 20"/>
          <p:cNvSpPr/>
          <p:nvPr/>
        </p:nvSpPr>
        <p:spPr>
          <a:xfrm>
            <a:off x="4572000" y="3246120"/>
            <a:ext cx="64008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3" name="Text 21"/>
          <p:cNvSpPr/>
          <p:nvPr/>
        </p:nvSpPr>
        <p:spPr>
          <a:xfrm>
            <a:off x="4754880" y="324612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349240" y="324612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special member runs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411480"/>
            <a:ext cx="91440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· PASS BY VALUE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5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50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594360"/>
            <a:ext cx="292608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365760" y="59436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PREDICT THE OUTPUT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9601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many times does "copy" print?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65760" y="1508760"/>
            <a:ext cx="8412480" cy="3108960"/>
          </a:xfrm>
          <a:prstGeom prst="rect">
            <a:avLst/>
          </a:prstGeom>
          <a:solidFill>
            <a:schemeClr val="bg1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530352" y="1618488"/>
            <a:ext cx="64008" cy="6400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694944" y="1618488"/>
            <a:ext cx="64008" cy="6400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Shape 10"/>
          <p:cNvSpPr/>
          <p:nvPr/>
        </p:nvSpPr>
        <p:spPr>
          <a:xfrm>
            <a:off x="859536" y="1618488"/>
            <a:ext cx="64008" cy="6400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594360" y="1801368"/>
            <a:ext cx="79552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class C {</a:t>
            </a:r>
            <a:endParaRPr lang="en-US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C()           { }</a:t>
            </a:r>
            <a:endParaRPr lang="en-US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C(const C&amp;)   { cout &lt;&lt; "copy "; }</a:t>
            </a:r>
            <a:endParaRPr lang="en-US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void f(C a) { }</a:t>
            </a:r>
            <a:endParaRPr lang="en-US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void g(C a) { f(a); }</a:t>
            </a:r>
            <a:endParaRPr lang="en-US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C c;</a:t>
            </a:r>
            <a:endParaRPr lang="en-US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g(c);</a:t>
            </a:r>
            <a:endParaRPr lang="en-US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b="1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411480"/>
            <a:ext cx="91440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· PASS BY VALUE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5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50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594360"/>
            <a:ext cx="1005840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365760" y="5943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ANSWER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9601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Answer: B  ·  Output: copy copy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65760" y="1691640"/>
            <a:ext cx="8412480" cy="5486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502920" y="175564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OUTPUT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463040" y="1691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copy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2377440"/>
            <a:ext cx="8412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502920" y="2468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2743200"/>
            <a:ext cx="82296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ea typeface="Calibri" pitchFamily="34" charset="-122"/>
                <a:cs typeface="Calibri" pitchFamily="34" charset="-120"/>
              </a:rPr>
              <a:t>• Calling g(c) copies c into g's parameter a → 1st "copy".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ea typeface="Calibri" pitchFamily="34" charset="-122"/>
                <a:cs typeface="Calibri" pitchFamily="34" charset="-120"/>
              </a:rPr>
              <a:t>• Inside g, calling f(a) copies a again into f's parameter → 2nd "copy".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ea typeface="Calibri" pitchFamily="34" charset="-122"/>
                <a:cs typeface="Calibri" pitchFamily="34" charset="-120"/>
              </a:rPr>
              <a:t>• Each pass-by-value boundary triggers another copy constructor call.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ea typeface="Calibri" pitchFamily="34" charset="-122"/>
                <a:cs typeface="Calibri" pitchFamily="34" charset="-120"/>
              </a:rPr>
              <a:t>• Switching parameters to const C&amp; would print nothing — no copies made.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→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411480"/>
            <a:ext cx="91440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 · PASS BY REFERENCE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5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50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594360"/>
            <a:ext cx="117856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365760" y="594360"/>
            <a:ext cx="1178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CONCEPT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96012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Pass by reference: the parameter IS the original.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65760" y="1591056"/>
            <a:ext cx="4754880" cy="2660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spcAft>
                <a:spcPts val="400"/>
              </a:spcAft>
              <a:buNone/>
            </a:pPr>
            <a:r>
              <a:rPr lang="en-US" sz="1600" b="1" dirty="0">
                <a:ea typeface="Calibri" pitchFamily="34" charset="-122"/>
                <a:cs typeface="Calibri" pitchFamily="34" charset="-120"/>
              </a:rPr>
              <a:t>A reference parameter is an alias for the caller's object — no copy is made. Mutations inside the function are visible to the caller.</a:t>
            </a:r>
            <a:endParaRPr lang="en-US" sz="1600" b="1" dirty="0"/>
          </a:p>
          <a:p>
            <a:pPr marL="0" indent="0" algn="just">
              <a:spcAft>
                <a:spcPts val="400"/>
              </a:spcAft>
              <a:buNone/>
            </a:pPr>
            <a:endParaRPr lang="en-US" sz="1600" b="1" dirty="0"/>
          </a:p>
          <a:p>
            <a:pPr marL="0" indent="0" algn="just">
              <a:spcAft>
                <a:spcPts val="400"/>
              </a:spcAft>
              <a:buNone/>
            </a:pPr>
            <a:r>
              <a:rPr lang="en-US" sz="1600" b="1" dirty="0">
                <a:ea typeface="Calibri" pitchFamily="34" charset="-122"/>
                <a:cs typeface="Calibri" pitchFamily="34" charset="-120"/>
              </a:rPr>
              <a:t>Use a reference whenever you want either to (a) modify the caller's object, or (b) avoid the cost of copying. Mark it const if you don't need to modify.</a:t>
            </a:r>
            <a:endParaRPr lang="en-US" sz="1600" b="1" dirty="0"/>
          </a:p>
        </p:txBody>
      </p:sp>
      <p:sp>
        <p:nvSpPr>
          <p:cNvPr id="10" name="Shape 8"/>
          <p:cNvSpPr/>
          <p:nvPr/>
        </p:nvSpPr>
        <p:spPr>
          <a:xfrm>
            <a:off x="5257800" y="1566841"/>
            <a:ext cx="3520440" cy="2680547"/>
          </a:xfrm>
          <a:prstGeom prst="rect">
            <a:avLst/>
          </a:prstGeom>
          <a:solidFill>
            <a:schemeClr val="bg1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5303520" y="1591056"/>
            <a:ext cx="306324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class Box {</a:t>
            </a:r>
            <a:endParaRPr lang="en-US" sz="1200" b="1" dirty="0"/>
          </a:p>
          <a:p>
            <a:r>
              <a:rPr lang="en-US" sz="12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200" b="1" dirty="0"/>
          </a:p>
          <a:p>
            <a:r>
              <a:rPr lang="en-US" sz="12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w = 0;</a:t>
            </a:r>
            <a:endParaRPr lang="en-US" sz="1200" b="1" dirty="0"/>
          </a:p>
          <a:p>
            <a:r>
              <a:rPr lang="en-US" sz="12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200" b="1" dirty="0"/>
          </a:p>
          <a:p>
            <a:endParaRPr lang="en-US" sz="1200" b="1" dirty="0"/>
          </a:p>
          <a:p>
            <a:r>
              <a:rPr lang="en-US" sz="12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void grow(Box&amp; b) {  // alias — no copy</a:t>
            </a:r>
            <a:endParaRPr lang="en-US" sz="1200" b="1" dirty="0"/>
          </a:p>
          <a:p>
            <a:r>
              <a:rPr lang="en-US" sz="12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b="1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b.w</a:t>
            </a:r>
            <a:r>
              <a:rPr lang="en-US" sz="12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+= 10;</a:t>
            </a:r>
            <a:endParaRPr lang="en-US" sz="1200" b="1" dirty="0"/>
          </a:p>
          <a:p>
            <a:r>
              <a:rPr lang="en-US" sz="12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b="1" dirty="0"/>
          </a:p>
          <a:p>
            <a:endParaRPr lang="en-US" sz="1200" b="1" dirty="0"/>
          </a:p>
          <a:p>
            <a:r>
              <a:rPr lang="en-US" sz="12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1200" b="1" dirty="0"/>
          </a:p>
          <a:p>
            <a:r>
              <a:rPr lang="en-US" sz="12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Box x;</a:t>
            </a:r>
            <a:endParaRPr lang="en-US" sz="1200" b="1" dirty="0"/>
          </a:p>
          <a:p>
            <a:r>
              <a:rPr lang="en-US" sz="12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grow(x);</a:t>
            </a:r>
            <a:endParaRPr lang="en-US" sz="1200" b="1" dirty="0"/>
          </a:p>
          <a:p>
            <a:r>
              <a:rPr lang="en-US" sz="12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b="1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cout</a:t>
            </a:r>
            <a:r>
              <a:rPr lang="en-US" sz="12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&lt;&lt; </a:t>
            </a:r>
            <a:r>
              <a:rPr lang="en-US" sz="1200" b="1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x.w</a:t>
            </a:r>
            <a:r>
              <a:rPr lang="en-US" sz="12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;     // 10 }</a:t>
            </a:r>
            <a:endParaRPr lang="en-US" sz="1200" b="1" dirty="0"/>
          </a:p>
          <a:p>
            <a:pPr marL="0" indent="0">
              <a:buNone/>
            </a:pP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4343400"/>
            <a:ext cx="841248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Shape 14"/>
          <p:cNvSpPr/>
          <p:nvPr/>
        </p:nvSpPr>
        <p:spPr>
          <a:xfrm>
            <a:off x="365760" y="4343400"/>
            <a:ext cx="13716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658368" y="437083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IDEA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58368" y="4535424"/>
            <a:ext cx="8092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= alias. Cheap and the original sees every change.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411480"/>
            <a:ext cx="91440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 · PASS BY REFERENCE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5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50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594360"/>
            <a:ext cx="91440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365760" y="5943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MCQ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9601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the main reason to prefer  void f(const Big&amp; b)  over  void f(Big b)?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4023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365760" y="1920240"/>
            <a:ext cx="64008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548640" y="192024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43000" y="192024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enables polymorphism.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0" y="1920240"/>
            <a:ext cx="4023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Shape 12"/>
          <p:cNvSpPr/>
          <p:nvPr/>
        </p:nvSpPr>
        <p:spPr>
          <a:xfrm>
            <a:off x="4572000" y="1920240"/>
            <a:ext cx="64008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/>
          <p:nvPr/>
        </p:nvSpPr>
        <p:spPr>
          <a:xfrm>
            <a:off x="4754880" y="192024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349240" y="192024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avoids running the copy constructor.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3246120"/>
            <a:ext cx="4023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64008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548640" y="324612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143000" y="324612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allows modifying the caller's object.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0" y="3246120"/>
            <a:ext cx="4023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2" name="Shape 20"/>
          <p:cNvSpPr/>
          <p:nvPr/>
        </p:nvSpPr>
        <p:spPr>
          <a:xfrm>
            <a:off x="4572000" y="3246120"/>
            <a:ext cx="64008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3" name="Text 21"/>
          <p:cNvSpPr/>
          <p:nvPr/>
        </p:nvSpPr>
        <p:spPr>
          <a:xfrm>
            <a:off x="4754880" y="324612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349240" y="324612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calls the destructor twice for safety.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411480"/>
            <a:ext cx="91440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 · PASS BY REFERENCE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5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50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594360"/>
            <a:ext cx="292608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365760" y="59436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PREDICT THE OUTPUT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9601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printed?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65760" y="1508760"/>
            <a:ext cx="8412480" cy="3108960"/>
          </a:xfrm>
          <a:prstGeom prst="rect">
            <a:avLst/>
          </a:prstGeom>
          <a:solidFill>
            <a:schemeClr val="bg1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594360" y="1600200"/>
            <a:ext cx="79552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class N {</a:t>
            </a:r>
            <a:endParaRPr lang="en-US" sz="1400" b="1" dirty="0"/>
          </a:p>
          <a:p>
            <a:pPr marL="0" indent="0">
              <a:buNone/>
            </a:pPr>
            <a:r>
              <a:rPr lang="en-US" sz="14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400" b="1" dirty="0"/>
          </a:p>
          <a:p>
            <a:pPr marL="0" indent="0">
              <a:buNone/>
            </a:pPr>
            <a:r>
              <a:rPr lang="en-US" sz="14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v;</a:t>
            </a:r>
            <a:endParaRPr lang="en-US" sz="1400" b="1" dirty="0"/>
          </a:p>
          <a:p>
            <a:pPr marL="0" indent="0">
              <a:buNone/>
            </a:pPr>
            <a:r>
              <a:rPr lang="en-US" sz="14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N(int x) : v(x) {}</a:t>
            </a:r>
            <a:endParaRPr lang="en-US" sz="1400" b="1" dirty="0"/>
          </a:p>
          <a:p>
            <a:pPr marL="0" indent="0">
              <a:buNone/>
            </a:pPr>
            <a:r>
              <a:rPr lang="en-US" sz="14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400" b="1" dirty="0"/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r>
              <a:rPr lang="en-US" sz="14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void byVal(N n)  { n.v = 99; }</a:t>
            </a:r>
            <a:endParaRPr lang="en-US" sz="1400" b="1" dirty="0"/>
          </a:p>
          <a:p>
            <a:pPr marL="0" indent="0">
              <a:buNone/>
            </a:pPr>
            <a:r>
              <a:rPr lang="en-US" sz="14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void byRef(N&amp; n) { n.v = 99; }</a:t>
            </a:r>
            <a:endParaRPr lang="en-US" sz="1400" b="1" dirty="0"/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r>
              <a:rPr lang="en-US" sz="14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1400" b="1" dirty="0"/>
          </a:p>
          <a:p>
            <a:pPr marL="0" indent="0">
              <a:buNone/>
            </a:pPr>
            <a:r>
              <a:rPr lang="en-US" sz="14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N a(1), b(1);</a:t>
            </a:r>
            <a:endParaRPr lang="en-US" sz="1400" b="1" dirty="0"/>
          </a:p>
          <a:p>
            <a:pPr marL="0" indent="0">
              <a:buNone/>
            </a:pPr>
            <a:r>
              <a:rPr lang="en-US" sz="14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byVal(a);</a:t>
            </a:r>
            <a:endParaRPr lang="en-US" sz="1400" b="1" dirty="0"/>
          </a:p>
          <a:p>
            <a:pPr marL="0" indent="0">
              <a:buNone/>
            </a:pPr>
            <a:r>
              <a:rPr lang="en-US" sz="14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byRef(b);</a:t>
            </a:r>
            <a:endParaRPr lang="en-US" sz="1400" b="1" dirty="0"/>
          </a:p>
          <a:p>
            <a:pPr marL="0" indent="0">
              <a:buNone/>
            </a:pPr>
            <a:r>
              <a:rPr lang="en-US" sz="14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a.v &lt;&lt; " " &lt;&lt; </a:t>
            </a:r>
            <a:r>
              <a:rPr lang="en-US" sz="1400" b="1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b.v</a:t>
            </a:r>
            <a:r>
              <a:rPr lang="en-US" sz="14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;}</a:t>
            </a:r>
            <a:endParaRPr lang="en-US" sz="1400" b="1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411480"/>
            <a:ext cx="91440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 · PASS BY REFERENCE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5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50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594360"/>
            <a:ext cx="1005840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365760" y="5943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ANSWER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9601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Answer: B  ·  Output: 1 99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65760" y="1691640"/>
            <a:ext cx="8412480" cy="5486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502920" y="175564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OUTPUT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463040" y="1691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1 99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2377440"/>
            <a:ext cx="8412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502920" y="2468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2743200"/>
            <a:ext cx="82296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byVal(a) gets a copy; setting copy.v = 99 doesn't touch a.v, which stays 1.</a:t>
            </a:r>
            <a:endParaRPr lang="en-US" sz="1600" dirty="0"/>
          </a:p>
          <a:p>
            <a:pPr marL="0" indent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byRef(b) receives an alias for b; setting n.v = 99 directly changes b.v.</a:t>
            </a:r>
            <a:endParaRPr lang="en-US" sz="1600" dirty="0"/>
          </a:p>
          <a:p>
            <a:pPr marL="0" indent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choice between &amp; and value parameter governs whether the caller sees mutations.</a:t>
            </a:r>
            <a:endParaRPr lang="en-US" sz="1600" dirty="0"/>
          </a:p>
          <a:p>
            <a:pPr marL="0" indent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If you want the speed of references but no mutation, use const T&amp;.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→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411480"/>
            <a:ext cx="91440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 · PASS CONST OBJECT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5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50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594360"/>
            <a:ext cx="1185332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365759" y="594360"/>
            <a:ext cx="118533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CONCEPT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96012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const reference parameter forbids modification.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65760" y="1469813"/>
            <a:ext cx="4206240" cy="2782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spcAft>
                <a:spcPts val="400"/>
              </a:spcAft>
              <a:buNone/>
            </a:pPr>
            <a:r>
              <a:rPr lang="en-US" sz="1600" b="1" dirty="0">
                <a:ea typeface="Calibri" pitchFamily="34" charset="-122"/>
                <a:cs typeface="Calibri" pitchFamily="34" charset="-120"/>
              </a:rPr>
              <a:t>Marking a parameter as const T&amp; gives you the speed of references with read-only protection. The compiler refuses any line that mutates the parameter.</a:t>
            </a:r>
            <a:endParaRPr lang="en-US" sz="1600" b="1" dirty="0"/>
          </a:p>
          <a:p>
            <a:pPr marL="0" indent="0" algn="just">
              <a:spcAft>
                <a:spcPts val="400"/>
              </a:spcAft>
              <a:buNone/>
            </a:pPr>
            <a:endParaRPr lang="en-US" sz="1600" b="1" dirty="0"/>
          </a:p>
          <a:p>
            <a:pPr marL="0" indent="0" algn="just">
              <a:spcAft>
                <a:spcPts val="400"/>
              </a:spcAft>
              <a:buNone/>
            </a:pPr>
            <a:r>
              <a:rPr lang="en-US" sz="1600" b="1" dirty="0">
                <a:ea typeface="Calibri" pitchFamily="34" charset="-122"/>
                <a:cs typeface="Calibri" pitchFamily="34" charset="-120"/>
              </a:rPr>
              <a:t>The object can only call member functions that are themselves marked const — those are guaranteed not to change object state.</a:t>
            </a:r>
            <a:endParaRPr lang="en-US" sz="1600" b="1" dirty="0"/>
          </a:p>
        </p:txBody>
      </p:sp>
      <p:sp>
        <p:nvSpPr>
          <p:cNvPr id="10" name="Shape 8"/>
          <p:cNvSpPr/>
          <p:nvPr/>
        </p:nvSpPr>
        <p:spPr>
          <a:xfrm>
            <a:off x="4890347" y="1361440"/>
            <a:ext cx="3887893" cy="2890520"/>
          </a:xfrm>
          <a:prstGeom prst="rect">
            <a:avLst/>
          </a:prstGeom>
          <a:solidFill>
            <a:schemeClr val="bg1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4998720" y="1469813"/>
            <a:ext cx="3550920" cy="2663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class T {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v = 5;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show()  const { cout &lt;&lt; v; }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bump()        { v++; }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200" b="1" dirty="0"/>
          </a:p>
          <a:p>
            <a:pPr marL="0" indent="0">
              <a:buNone/>
            </a:pP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void print(const T&amp; t) {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t.show();    // OK   — show is const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// t.bump(); // ERROR — bump isn't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// t.v = 9;  // ERROR — t is const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b="1" dirty="0"/>
          </a:p>
        </p:txBody>
      </p:sp>
      <p:sp>
        <p:nvSpPr>
          <p:cNvPr id="15" name="Shape 13"/>
          <p:cNvSpPr/>
          <p:nvPr/>
        </p:nvSpPr>
        <p:spPr>
          <a:xfrm>
            <a:off x="365760" y="4343400"/>
            <a:ext cx="841248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Shape 14"/>
          <p:cNvSpPr/>
          <p:nvPr/>
        </p:nvSpPr>
        <p:spPr>
          <a:xfrm>
            <a:off x="365760" y="4343400"/>
            <a:ext cx="13716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658368" y="437083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IDEA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58368" y="4535424"/>
            <a:ext cx="8092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const object, only const member functions are callable.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411480"/>
            <a:ext cx="91440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 · PASS CONST OBJECT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5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50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594360"/>
            <a:ext cx="91440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365760" y="5943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MCQ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9601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Given a parameter  const T&amp; t  — which call compiles?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4023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365760" y="1920240"/>
            <a:ext cx="64008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548640" y="192024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43000" y="192024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t.modify();           // void modify();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0" y="1920240"/>
            <a:ext cx="4023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Shape 12"/>
          <p:cNvSpPr/>
          <p:nvPr/>
        </p:nvSpPr>
        <p:spPr>
          <a:xfrm>
            <a:off x="4572000" y="1920240"/>
            <a:ext cx="64008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/>
          <p:nvPr/>
        </p:nvSpPr>
        <p:spPr>
          <a:xfrm>
            <a:off x="4754880" y="192024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349240" y="192024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t.read() const;       // (syntax error — ignore)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3246120"/>
            <a:ext cx="4023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64008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548640" y="324612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143000" y="324612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t.read();             // int read() const;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0" y="3246120"/>
            <a:ext cx="4023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2" name="Shape 20"/>
          <p:cNvSpPr/>
          <p:nvPr/>
        </p:nvSpPr>
        <p:spPr>
          <a:xfrm>
            <a:off x="4572000" y="3246120"/>
            <a:ext cx="64008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3" name="Text 21"/>
          <p:cNvSpPr/>
          <p:nvPr/>
        </p:nvSpPr>
        <p:spPr>
          <a:xfrm>
            <a:off x="4754880" y="324612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349240" y="324612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otherT;           // assignment to t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411480"/>
            <a:ext cx="91440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 · PASS CONST OBJECT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5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50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594360"/>
            <a:ext cx="1005840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365760" y="5943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ANSWER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9601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Answer: C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65760" y="1691640"/>
            <a:ext cx="84124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502920" y="17830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05740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spcAft>
                <a:spcPts val="600"/>
              </a:spcAft>
              <a:buNone/>
            </a:pPr>
            <a:r>
              <a:rPr lang="en-US" sz="1600" dirty="0">
                <a:ea typeface="Calibri" pitchFamily="34" charset="-122"/>
                <a:cs typeface="Calibri" pitchFamily="34" charset="-120"/>
              </a:rPr>
              <a:t>• A const T parameter blocks any non-const operation: assignments, member writes, and non-const member functions.</a:t>
            </a:r>
            <a:endParaRPr lang="en-US" sz="1600" dirty="0"/>
          </a:p>
          <a:p>
            <a:pPr marL="0" indent="0" algn="just">
              <a:spcAft>
                <a:spcPts val="600"/>
              </a:spcAft>
              <a:buNone/>
            </a:pPr>
            <a:r>
              <a:rPr lang="en-US" sz="1600" dirty="0">
                <a:ea typeface="Calibri" pitchFamily="34" charset="-122"/>
                <a:cs typeface="Calibri" pitchFamily="34" charset="-120"/>
              </a:rPr>
              <a:t>• Only functions declared with the trailing const keyword guarantee they don't mutate the object — those are safe to call.</a:t>
            </a:r>
            <a:endParaRPr lang="en-US" sz="1600" dirty="0"/>
          </a:p>
          <a:p>
            <a:pPr marL="0" indent="0" algn="just">
              <a:spcAft>
                <a:spcPts val="600"/>
              </a:spcAft>
              <a:buNone/>
            </a:pPr>
            <a:r>
              <a:rPr lang="en-US" sz="1600" dirty="0">
                <a:ea typeface="Calibri" pitchFamily="34" charset="-122"/>
                <a:cs typeface="Calibri" pitchFamily="34" charset="-120"/>
              </a:rPr>
              <a:t>• const-correctness is a contract, not a runtime check; mistakes are caught at compile time.</a:t>
            </a:r>
            <a:endParaRPr lang="en-US" sz="1600" dirty="0"/>
          </a:p>
          <a:p>
            <a:pPr marL="0" indent="0" algn="just">
              <a:spcAft>
                <a:spcPts val="600"/>
              </a:spcAft>
              <a:buNone/>
            </a:pPr>
            <a:r>
              <a:rPr lang="en-US" sz="1600" dirty="0">
                <a:ea typeface="Calibri" pitchFamily="34" charset="-122"/>
                <a:cs typeface="Calibri" pitchFamily="34" charset="-120"/>
              </a:rPr>
              <a:t>• Always const-qualify member functions that don't change state — your future self will thank you.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→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411480"/>
            <a:ext cx="914400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 · RETURN BY REFERENCE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5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50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594360"/>
            <a:ext cx="1212426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365759" y="594360"/>
            <a:ext cx="121242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CONCEPT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96012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Return by reference: cheap, but mind dangling refs.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65760" y="1700107"/>
            <a:ext cx="4294293" cy="2551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spcAft>
                <a:spcPts val="400"/>
              </a:spcAft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returning T&amp; gives the caller direct access to an existing object, with no copy. Powerful — but only safe if that object outlives the function call (a member, a parameter, a static, or a heap object).</a:t>
            </a:r>
            <a:endParaRPr lang="en-US" sz="1400" dirty="0"/>
          </a:p>
          <a:p>
            <a:pPr marL="0" indent="0" algn="just">
              <a:spcAft>
                <a:spcPts val="400"/>
              </a:spcAft>
              <a:buNone/>
            </a:pPr>
            <a:endParaRPr lang="en-US" sz="1400" dirty="0"/>
          </a:p>
          <a:p>
            <a:pPr marL="0" indent="0" algn="just">
              <a:spcAft>
                <a:spcPts val="400"/>
              </a:spcAft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Returning a reference to a local variable is undefined behavior: the local dies when the function returns.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29387" y="1381760"/>
            <a:ext cx="3948853" cy="2870200"/>
          </a:xfrm>
          <a:prstGeom prst="rect">
            <a:avLst/>
          </a:prstGeom>
          <a:solidFill>
            <a:schemeClr val="bg1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4991947" y="1598507"/>
            <a:ext cx="3557693" cy="2534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class Cup {</a:t>
            </a:r>
            <a:endParaRPr lang="en-US" sz="1100" b="1" dirty="0"/>
          </a:p>
          <a:p>
            <a:pPr marL="0" indent="0">
              <a:buNone/>
            </a:pPr>
            <a:r>
              <a:rPr lang="en-US" sz="11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level = 0;</a:t>
            </a:r>
            <a:endParaRPr lang="en-US" sz="1100" b="1" dirty="0"/>
          </a:p>
          <a:p>
            <a:pPr marL="0" indent="0">
              <a:buNone/>
            </a:pPr>
            <a:r>
              <a:rPr lang="en-US" sz="11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100" b="1" dirty="0"/>
          </a:p>
          <a:p>
            <a:pPr marL="0" indent="0">
              <a:buNone/>
            </a:pPr>
            <a:r>
              <a:rPr lang="en-US" sz="11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int&amp; water() { return level; }   // OK</a:t>
            </a:r>
            <a:endParaRPr lang="en-US" sz="1100" b="1" dirty="0"/>
          </a:p>
          <a:p>
            <a:pPr marL="0" indent="0">
              <a:buNone/>
            </a:pPr>
            <a:r>
              <a:rPr lang="en-US" sz="11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00" b="1" dirty="0"/>
          </a:p>
          <a:p>
            <a:pPr marL="0" indent="0">
              <a:buNone/>
            </a:pPr>
            <a:endParaRPr lang="en-US" sz="1100" b="1" dirty="0"/>
          </a:p>
          <a:p>
            <a:pPr marL="0" indent="0">
              <a:buNone/>
            </a:pPr>
            <a:r>
              <a:rPr lang="en-US" sz="11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int&amp; bad() {</a:t>
            </a:r>
            <a:endParaRPr lang="en-US" sz="1100" b="1" dirty="0"/>
          </a:p>
          <a:p>
            <a:pPr marL="0" indent="0">
              <a:buNone/>
            </a:pPr>
            <a:r>
              <a:rPr lang="en-US" sz="11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local = 42;</a:t>
            </a:r>
            <a:endParaRPr lang="en-US" sz="1100" b="1" dirty="0"/>
          </a:p>
          <a:p>
            <a:pPr marL="0" indent="0">
              <a:buNone/>
            </a:pPr>
            <a:r>
              <a:rPr lang="en-US" sz="11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local;     // ❌ DANGLING</a:t>
            </a:r>
            <a:endParaRPr lang="en-US" sz="1100" b="1" dirty="0"/>
          </a:p>
          <a:p>
            <a:pPr marL="0" indent="0">
              <a:buNone/>
            </a:pPr>
            <a:r>
              <a:rPr lang="en-US" sz="11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b="1" dirty="0"/>
          </a:p>
          <a:p>
            <a:pPr marL="0" indent="0">
              <a:buNone/>
            </a:pPr>
            <a:endParaRPr lang="en-US" sz="1100" b="1" dirty="0"/>
          </a:p>
          <a:p>
            <a:pPr marL="0" indent="0">
              <a:buNone/>
            </a:pPr>
            <a:r>
              <a:rPr lang="en-US" sz="11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Cup c;  c.water() = 7;  // c.level is now 7</a:t>
            </a:r>
            <a:endParaRPr lang="en-US" sz="1100" b="1" dirty="0"/>
          </a:p>
        </p:txBody>
      </p:sp>
      <p:sp>
        <p:nvSpPr>
          <p:cNvPr id="15" name="Shape 13"/>
          <p:cNvSpPr/>
          <p:nvPr/>
        </p:nvSpPr>
        <p:spPr>
          <a:xfrm>
            <a:off x="365760" y="4343400"/>
            <a:ext cx="841248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Shape 14"/>
          <p:cNvSpPr/>
          <p:nvPr/>
        </p:nvSpPr>
        <p:spPr>
          <a:xfrm>
            <a:off x="365760" y="4343400"/>
            <a:ext cx="13716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658368" y="437083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IDEA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58368" y="4535424"/>
            <a:ext cx="8092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return a reference to a local. The reference outlives the variable.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411480"/>
            <a:ext cx="914400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 · RETURN BY REFERENCE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5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50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594360"/>
            <a:ext cx="91440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365760" y="5943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MCQ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9601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happens if a function returns a reference to a local stack variable?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4023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365760" y="1920240"/>
            <a:ext cx="64008" cy="1143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548640" y="192024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43000" y="192024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compiler always rejects it.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0" y="1920240"/>
            <a:ext cx="4023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Shape 12"/>
          <p:cNvSpPr/>
          <p:nvPr/>
        </p:nvSpPr>
        <p:spPr>
          <a:xfrm>
            <a:off x="4572000" y="1920240"/>
            <a:ext cx="64008" cy="1143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/>
          <p:nvPr/>
        </p:nvSpPr>
        <p:spPr>
          <a:xfrm>
            <a:off x="4754880" y="192024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349240" y="192024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safe — the variable is copied automatically.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3246120"/>
            <a:ext cx="4023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64008" cy="1143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548640" y="324612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143000" y="324612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Undefined behavior: the reference dangles.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0" y="3246120"/>
            <a:ext cx="4023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2" name="Shape 20"/>
          <p:cNvSpPr/>
          <p:nvPr/>
        </p:nvSpPr>
        <p:spPr>
          <a:xfrm>
            <a:off x="4572000" y="3246120"/>
            <a:ext cx="64008" cy="1143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3" name="Text 21"/>
          <p:cNvSpPr/>
          <p:nvPr/>
        </p:nvSpPr>
        <p:spPr>
          <a:xfrm>
            <a:off x="4754880" y="324612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349240" y="324612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causes a memory leak.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411480"/>
            <a:ext cx="914400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 · RETURN BY REFERENCE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5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50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594360"/>
            <a:ext cx="1005840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365760" y="5943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ANSWER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9601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Answer: C — undefined behavior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65760" y="1691640"/>
            <a:ext cx="84124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502920" y="17830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05740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spcAft>
                <a:spcPts val="600"/>
              </a:spcAft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Local variables live on the stack and are destroyed when the function returns.</a:t>
            </a:r>
            <a:endParaRPr lang="en-US" sz="1600" dirty="0"/>
          </a:p>
          <a:p>
            <a:pPr marL="0" indent="0" algn="just">
              <a:spcAft>
                <a:spcPts val="600"/>
              </a:spcAft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returned reference points to memory that's no longer valid.</a:t>
            </a:r>
            <a:endParaRPr lang="en-US" sz="1600" dirty="0"/>
          </a:p>
          <a:p>
            <a:pPr marL="0" indent="0" algn="just">
              <a:spcAft>
                <a:spcPts val="600"/>
              </a:spcAft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It may APPEAR to work in simple tests because the bytes haven't been overwritten yet — that's the danger.</a:t>
            </a:r>
            <a:endParaRPr lang="en-US" sz="1600" dirty="0"/>
          </a:p>
          <a:p>
            <a:pPr marL="0" indent="0" algn="just">
              <a:spcAft>
                <a:spcPts val="600"/>
              </a:spcAft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Return references only to objects whose lifetime exceeds the call: members, statics, heap, parameters.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→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411480"/>
            <a:ext cx="914400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 · RETURN SAME CLASS OBJECT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5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50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59" y="594360"/>
            <a:ext cx="1225973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365760" y="594360"/>
            <a:ext cx="12259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CONCEPT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96012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Return *this to enable fluent chaining.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65760" y="1920240"/>
            <a:ext cx="47548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When a method returns a reference to its own object (return *this;) you can chain calls together. Each method hands back the same instance, so the next call lands on it directly.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pattern behind builders and stream operators (cout &lt;&lt; a &lt;&lt; b chains because operator&lt;&lt; returns ostream&amp;).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257800" y="1408853"/>
            <a:ext cx="3520440" cy="2843107"/>
          </a:xfrm>
          <a:prstGeom prst="rect">
            <a:avLst/>
          </a:prstGeom>
          <a:solidFill>
            <a:schemeClr val="bg1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5486400" y="1524000"/>
            <a:ext cx="3063240" cy="2609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34" charset="0"/>
                <a:ea typeface="Consolas" pitchFamily="34" charset="-122"/>
                <a:cs typeface="Consolas" pitchFamily="34" charset="-120"/>
              </a:rPr>
              <a:t>class Counter {</a:t>
            </a:r>
            <a:endParaRPr lang="en-US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n = 0;</a:t>
            </a:r>
            <a:endParaRPr lang="en-US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Counter&amp; add(int x) {</a:t>
            </a:r>
            <a:endParaRPr lang="en-US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 += x;</a:t>
            </a:r>
            <a:endParaRPr lang="en-US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*this;       // chain</a:t>
            </a:r>
            <a:endParaRPr lang="en-US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get() const { return n; }</a:t>
            </a:r>
            <a:endParaRPr lang="en-US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en-US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34" charset="0"/>
                <a:ea typeface="Consolas" pitchFamily="34" charset="-122"/>
                <a:cs typeface="Consolas" pitchFamily="34" charset="-120"/>
              </a:rPr>
              <a:t>Counter c;</a:t>
            </a:r>
            <a:endParaRPr lang="en-US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34" charset="0"/>
                <a:ea typeface="Consolas" pitchFamily="34" charset="-122"/>
                <a:cs typeface="Consolas" pitchFamily="34" charset="-120"/>
              </a:rPr>
              <a:t>c.add(2).add(3).add(5);  // n == 10</a:t>
            </a:r>
            <a:endParaRPr lang="en-US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65760" y="4343400"/>
            <a:ext cx="841248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Shape 14"/>
          <p:cNvSpPr/>
          <p:nvPr/>
        </p:nvSpPr>
        <p:spPr>
          <a:xfrm>
            <a:off x="365760" y="4343400"/>
            <a:ext cx="13716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658368" y="437083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IDEA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58368" y="4535424"/>
            <a:ext cx="8092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*this turns one method per line into one expression.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411480"/>
            <a:ext cx="914400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 · RETURN SAME CLASS OBJECT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5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50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594360"/>
            <a:ext cx="292608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365760" y="59436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PREDICT THE OUTPUT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9601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the final value printed?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65760" y="1508760"/>
            <a:ext cx="8412480" cy="3108960"/>
          </a:xfrm>
          <a:prstGeom prst="rect">
            <a:avLst/>
          </a:prstGeom>
          <a:solidFill>
            <a:schemeClr val="bg1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530352" y="1618488"/>
            <a:ext cx="64008" cy="6400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694944" y="1618488"/>
            <a:ext cx="64008" cy="6400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Shape 10"/>
          <p:cNvSpPr/>
          <p:nvPr/>
        </p:nvSpPr>
        <p:spPr>
          <a:xfrm>
            <a:off x="859536" y="1618488"/>
            <a:ext cx="64008" cy="6400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594360" y="1801368"/>
            <a:ext cx="79552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class Bag {</a:t>
            </a:r>
            <a:endParaRPr lang="en-US" sz="1400" b="1" dirty="0"/>
          </a:p>
          <a:p>
            <a:pPr marL="0" indent="0">
              <a:buNone/>
            </a:pPr>
            <a:r>
              <a:rPr lang="en-US" sz="14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items = 0;</a:t>
            </a:r>
            <a:endParaRPr lang="en-US" sz="1400" b="1" dirty="0"/>
          </a:p>
          <a:p>
            <a:pPr marL="0" indent="0">
              <a:buNone/>
            </a:pPr>
            <a:r>
              <a:rPr lang="en-US" sz="14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400" b="1" dirty="0"/>
          </a:p>
          <a:p>
            <a:pPr marL="0" indent="0">
              <a:buNone/>
            </a:pPr>
            <a:r>
              <a:rPr lang="en-US" sz="14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Bag&amp; put()  { items++; return *this; }</a:t>
            </a:r>
            <a:endParaRPr lang="en-US" sz="1400" b="1" dirty="0"/>
          </a:p>
          <a:p>
            <a:pPr marL="0" indent="0">
              <a:buNone/>
            </a:pPr>
            <a:r>
              <a:rPr lang="en-US" sz="14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Bag&amp; dump() { items = 0; return *this; }</a:t>
            </a:r>
            <a:endParaRPr lang="en-US" sz="1400" b="1" dirty="0"/>
          </a:p>
          <a:p>
            <a:pPr marL="0" indent="0">
              <a:buNone/>
            </a:pPr>
            <a:r>
              <a:rPr lang="en-US" sz="14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 size() const { return items; }</a:t>
            </a:r>
            <a:endParaRPr lang="en-US" sz="1400" b="1" dirty="0"/>
          </a:p>
          <a:p>
            <a:pPr marL="0" indent="0">
              <a:buNone/>
            </a:pPr>
            <a:r>
              <a:rPr lang="en-US" sz="14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400" b="1" dirty="0"/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r>
              <a:rPr lang="en-US" sz="14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1400" b="1" dirty="0"/>
          </a:p>
          <a:p>
            <a:pPr marL="0" indent="0">
              <a:buNone/>
            </a:pPr>
            <a:r>
              <a:rPr lang="en-US" sz="14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Bag b;</a:t>
            </a:r>
            <a:endParaRPr lang="en-US" sz="1400" b="1" dirty="0"/>
          </a:p>
          <a:p>
            <a:pPr marL="0" indent="0">
              <a:buNone/>
            </a:pPr>
            <a:r>
              <a:rPr lang="en-US" sz="14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b.put().put().put().dump().put().put();</a:t>
            </a:r>
            <a:endParaRPr lang="en-US" sz="1400" b="1" dirty="0"/>
          </a:p>
          <a:p>
            <a:pPr marL="0" indent="0">
              <a:buNone/>
            </a:pPr>
            <a:r>
              <a:rPr lang="en-US" sz="14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b.size();</a:t>
            </a:r>
            <a:endParaRPr lang="en-US" sz="1400" b="1" dirty="0"/>
          </a:p>
          <a:p>
            <a:pPr marL="0" indent="0">
              <a:buNone/>
            </a:pPr>
            <a:r>
              <a:rPr lang="en-US" sz="14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b="1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411480"/>
            <a:ext cx="914400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 · RETURN SAME CLASS OBJECT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5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50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594360"/>
            <a:ext cx="1005840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365760" y="5943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ANSWER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9601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Answer: 2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65760" y="1691640"/>
            <a:ext cx="8412480" cy="5486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502920" y="175564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OUTPUT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463040" y="1691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2377440"/>
            <a:ext cx="8412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502920" y="2468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2743200"/>
            <a:ext cx="82296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spcAft>
                <a:spcPts val="600"/>
              </a:spcAft>
              <a:buNone/>
            </a:pPr>
            <a:r>
              <a:rPr lang="en-US" sz="1600" dirty="0">
                <a:ea typeface="Calibri" pitchFamily="34" charset="-122"/>
                <a:cs typeface="Calibri" pitchFamily="34" charset="-120"/>
              </a:rPr>
              <a:t>• Each method modifies the same b (because it returns *this) and then hands b back for the next call.</a:t>
            </a:r>
            <a:endParaRPr lang="en-US" sz="1600" dirty="0"/>
          </a:p>
          <a:p>
            <a:pPr marL="0" indent="0" algn="just">
              <a:spcAft>
                <a:spcPts val="600"/>
              </a:spcAft>
              <a:buNone/>
            </a:pPr>
            <a:r>
              <a:rPr lang="en-US" sz="1600" dirty="0">
                <a:ea typeface="Calibri" pitchFamily="34" charset="-122"/>
                <a:cs typeface="Calibri" pitchFamily="34" charset="-120"/>
              </a:rPr>
              <a:t>• put · put · put → items = 3.</a:t>
            </a:r>
            <a:endParaRPr lang="en-US" sz="1600" dirty="0"/>
          </a:p>
          <a:p>
            <a:pPr marL="0" indent="0" algn="just">
              <a:spcAft>
                <a:spcPts val="600"/>
              </a:spcAft>
              <a:buNone/>
            </a:pPr>
            <a:r>
              <a:rPr lang="en-US" sz="1600" dirty="0">
                <a:ea typeface="Calibri" pitchFamily="34" charset="-122"/>
                <a:cs typeface="Calibri" pitchFamily="34" charset="-120"/>
              </a:rPr>
              <a:t>• dump → items = 0.</a:t>
            </a:r>
            <a:endParaRPr lang="en-US" sz="1600" dirty="0"/>
          </a:p>
          <a:p>
            <a:pPr marL="0" indent="0" algn="just">
              <a:spcAft>
                <a:spcPts val="600"/>
              </a:spcAft>
              <a:buNone/>
            </a:pPr>
            <a:r>
              <a:rPr lang="en-US" sz="1600" dirty="0">
                <a:ea typeface="Calibri" pitchFamily="34" charset="-122"/>
                <a:cs typeface="Calibri" pitchFamily="34" charset="-120"/>
              </a:rPr>
              <a:t>• put · put → items = 2.  Final: 2.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→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411480"/>
            <a:ext cx="914400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 · RETURN CONST OBJECT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5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50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594360"/>
            <a:ext cx="1212426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365759" y="594360"/>
            <a:ext cx="121242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CONCEPT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96012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const return value cannot be mutated by the caller.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65760" y="1920240"/>
            <a:ext cx="47548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spcAft>
                <a:spcPts val="400"/>
              </a:spcAft>
              <a:buNone/>
            </a:pPr>
            <a:r>
              <a:rPr lang="en-US" dirty="0">
                <a:ea typeface="Calibri" pitchFamily="34" charset="-122"/>
                <a:cs typeface="Calibri" pitchFamily="34" charset="-120"/>
              </a:rPr>
              <a:t>When a function returns const T (or const T&amp;), the resulting expression is read-only. The caller can use it but cannot call non-const member functions on it or write to its members.</a:t>
            </a:r>
            <a:endParaRPr lang="en-US" dirty="0"/>
          </a:p>
          <a:p>
            <a:pPr marL="0" indent="0">
              <a:lnSpc>
                <a:spcPct val="150000"/>
              </a:lnSpc>
              <a:spcAft>
                <a:spcPts val="400"/>
              </a:spcAft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257800" y="1429173"/>
            <a:ext cx="3520440" cy="2822787"/>
          </a:xfrm>
          <a:prstGeom prst="rect">
            <a:avLst/>
          </a:prstGeom>
          <a:solidFill>
            <a:schemeClr val="bg1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5310293" y="1572768"/>
            <a:ext cx="3239347" cy="2491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class Money {</a:t>
            </a:r>
            <a:endParaRPr lang="en-US" sz="1100" b="1" dirty="0"/>
          </a:p>
          <a:p>
            <a:pPr marL="0" indent="0">
              <a:buNone/>
            </a:pPr>
            <a:r>
              <a:rPr lang="en-US" sz="11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100" b="1" dirty="0"/>
          </a:p>
          <a:p>
            <a:pPr marL="0" indent="0">
              <a:buNone/>
            </a:pPr>
            <a:r>
              <a:rPr lang="en-US" sz="11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amount = 0;</a:t>
            </a:r>
            <a:endParaRPr lang="en-US" sz="1100" b="1" dirty="0"/>
          </a:p>
          <a:p>
            <a:pPr marL="0" indent="0">
              <a:buNone/>
            </a:pPr>
            <a:r>
              <a:rPr lang="en-US" sz="11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scale(int x) { amount *= x; }</a:t>
            </a:r>
            <a:endParaRPr lang="en-US" sz="1100" b="1" dirty="0"/>
          </a:p>
          <a:p>
            <a:pPr marL="0" indent="0">
              <a:buNone/>
            </a:pPr>
            <a:r>
              <a:rPr lang="en-US" sz="11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 value() const { return amount; }</a:t>
            </a:r>
            <a:endParaRPr lang="en-US" sz="1100" b="1" dirty="0"/>
          </a:p>
          <a:p>
            <a:pPr marL="0" indent="0">
              <a:buNone/>
            </a:pPr>
            <a:r>
              <a:rPr lang="en-US" sz="11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00" b="1" dirty="0"/>
          </a:p>
          <a:p>
            <a:pPr marL="0" indent="0">
              <a:buNone/>
            </a:pPr>
            <a:endParaRPr lang="en-US" sz="1100" b="1" dirty="0"/>
          </a:p>
          <a:p>
            <a:pPr marL="0" indent="0">
              <a:buNone/>
            </a:pPr>
            <a:r>
              <a:rPr lang="en-US" sz="11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const Money make() { return Money(); }</a:t>
            </a:r>
          </a:p>
          <a:p>
            <a:pPr marL="0" indent="0">
              <a:buNone/>
            </a:pPr>
            <a:r>
              <a:rPr lang="en-US" sz="1100" b="1" dirty="0">
                <a:latin typeface="Consolas" pitchFamily="34" charset="0"/>
              </a:rPr>
              <a:t>int main(){</a:t>
            </a:r>
            <a:endParaRPr lang="en-US" sz="1100" b="1" dirty="0"/>
          </a:p>
          <a:p>
            <a:pPr marL="0" indent="0">
              <a:buNone/>
            </a:pPr>
            <a:endParaRPr lang="en-US" sz="1100" b="1" dirty="0"/>
          </a:p>
          <a:p>
            <a:pPr marL="0" indent="0">
              <a:buNone/>
            </a:pPr>
            <a:r>
              <a:rPr lang="en-US" sz="11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// make().scale(2);  ❌ non-const method on const</a:t>
            </a:r>
            <a:endParaRPr lang="en-US" sz="1100" b="1" dirty="0"/>
          </a:p>
          <a:p>
            <a:pPr marL="0" indent="0">
              <a:buNone/>
            </a:pPr>
            <a:r>
              <a:rPr lang="en-US" sz="11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// make().value();  ✓ const method is fine</a:t>
            </a:r>
          </a:p>
          <a:p>
            <a:pPr marL="0" indent="0">
              <a:buNone/>
            </a:pPr>
            <a:r>
              <a:rPr lang="en-US" sz="1100" b="1" dirty="0">
                <a:latin typeface="Consolas" pitchFamily="34" charset="0"/>
              </a:rPr>
              <a:t>}</a:t>
            </a:r>
            <a:endParaRPr lang="en-US" sz="1100" b="1" dirty="0"/>
          </a:p>
        </p:txBody>
      </p:sp>
      <p:sp>
        <p:nvSpPr>
          <p:cNvPr id="15" name="Shape 13"/>
          <p:cNvSpPr/>
          <p:nvPr/>
        </p:nvSpPr>
        <p:spPr>
          <a:xfrm>
            <a:off x="365760" y="4343400"/>
            <a:ext cx="841248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Shape 14"/>
          <p:cNvSpPr/>
          <p:nvPr/>
        </p:nvSpPr>
        <p:spPr>
          <a:xfrm>
            <a:off x="365760" y="4343400"/>
            <a:ext cx="13716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658368" y="437083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IDEA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58368" y="4535424"/>
            <a:ext cx="8092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 return = the result is observe-only.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411480"/>
            <a:ext cx="914400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 · RETURN CONST OBJECT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5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50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594360"/>
            <a:ext cx="91440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365760" y="5943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MCQ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9601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prefer  const T  as a function's return type?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4023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365760" y="1920240"/>
            <a:ext cx="64008" cy="1143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548640" y="192024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43000" y="192024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makes the function faster.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0" y="1920240"/>
            <a:ext cx="4023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Shape 12"/>
          <p:cNvSpPr/>
          <p:nvPr/>
        </p:nvSpPr>
        <p:spPr>
          <a:xfrm>
            <a:off x="4572000" y="1920240"/>
            <a:ext cx="64008" cy="1143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/>
          <p:nvPr/>
        </p:nvSpPr>
        <p:spPr>
          <a:xfrm>
            <a:off x="4754880" y="192024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349240" y="192024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blocks the caller from modifying the returned temporary.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3246120"/>
            <a:ext cx="4023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64008" cy="1143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548640" y="324612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143000" y="324612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removes the need for copy constructors.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0" y="3246120"/>
            <a:ext cx="4023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2" name="Shape 20"/>
          <p:cNvSpPr/>
          <p:nvPr/>
        </p:nvSpPr>
        <p:spPr>
          <a:xfrm>
            <a:off x="4572000" y="3246120"/>
            <a:ext cx="64008" cy="1143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3" name="Text 21"/>
          <p:cNvSpPr/>
          <p:nvPr/>
        </p:nvSpPr>
        <p:spPr>
          <a:xfrm>
            <a:off x="4754880" y="324612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349240" y="324612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changes return-by-value into return-by-reference.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411480"/>
            <a:ext cx="914400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 · RETURN CONST OBJECT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5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50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594360"/>
            <a:ext cx="1005840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365760" y="5943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ANSWER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9601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Answer: B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65760" y="1691640"/>
            <a:ext cx="84124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502920" y="17830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05740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0F172A"/>
                </a:solidFill>
                <a:ea typeface="Calibri" pitchFamily="34" charset="-122"/>
                <a:cs typeface="Calibri" pitchFamily="34" charset="-120"/>
              </a:rPr>
              <a:t>• A const return value is a read-only expression: no assignment to it, no non-const member calls.</a:t>
            </a:r>
            <a:endParaRPr lang="en-US" sz="1600" dirty="0"/>
          </a:p>
          <a:p>
            <a:pPr marL="0" indent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0F172A"/>
                </a:solidFill>
                <a:ea typeface="Calibri" pitchFamily="34" charset="-122"/>
                <a:cs typeface="Calibri" pitchFamily="34" charset="-120"/>
              </a:rPr>
              <a:t>• It catches bugs like  (a + b) = c;  at compile time — that line wouldn't make sense to anyone.</a:t>
            </a:r>
            <a:endParaRPr lang="en-US" sz="1600" dirty="0"/>
          </a:p>
          <a:p>
            <a:pPr marL="0" indent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0F172A"/>
                </a:solidFill>
                <a:ea typeface="Calibri" pitchFamily="34" charset="-122"/>
                <a:cs typeface="Calibri" pitchFamily="34" charset="-120"/>
              </a:rPr>
              <a:t>• Performance is unchanged — const isn't a runtime hint, it's a compile-time contract.</a:t>
            </a:r>
            <a:endParaRPr lang="en-US" sz="1600" dirty="0"/>
          </a:p>
          <a:p>
            <a:pPr marL="0" indent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0F172A"/>
                </a:solidFill>
                <a:ea typeface="Calibri" pitchFamily="34" charset="-122"/>
                <a:cs typeface="Calibri" pitchFamily="34" charset="-120"/>
              </a:rPr>
              <a:t>• Const-by-value also prevents accidental moves out of the temporary in some cases.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→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411480"/>
            <a:ext cx="9144000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 · INHERITANCE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5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50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594360"/>
            <a:ext cx="1097280" cy="2926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365759" y="594360"/>
            <a:ext cx="118533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CONCEPT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96012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Derived inherits members; constructors run base→derived.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65760" y="1920240"/>
            <a:ext cx="47548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spcAft>
                <a:spcPts val="400"/>
              </a:spcAft>
              <a:buNone/>
            </a:pPr>
            <a:r>
              <a:rPr lang="en-US" sz="1600" dirty="0">
                <a:ea typeface="Calibri" pitchFamily="34" charset="-122"/>
                <a:cs typeface="Calibri" pitchFamily="34" charset="-120"/>
              </a:rPr>
              <a:t>Public inheritance models an "is-a" relationship. The derived object physically contains a base sub-object, so the base constructor runs first, then the derived constructor. Destructors run in reverse: derived first, base last.</a:t>
            </a:r>
            <a:endParaRPr lang="en-US" sz="1600" dirty="0"/>
          </a:p>
          <a:p>
            <a:pPr marL="0" indent="0" algn="just">
              <a:spcAft>
                <a:spcPts val="400"/>
              </a:spcAft>
              <a:buNone/>
            </a:pPr>
            <a:endParaRPr lang="en-US" sz="1600" dirty="0"/>
          </a:p>
          <a:p>
            <a:pPr marL="0" indent="0" algn="just">
              <a:spcAft>
                <a:spcPts val="400"/>
              </a:spcAft>
              <a:buNone/>
            </a:pPr>
            <a:r>
              <a:rPr lang="en-US" sz="1600" dirty="0">
                <a:ea typeface="Calibri" pitchFamily="34" charset="-122"/>
                <a:cs typeface="Calibri" pitchFamily="34" charset="-120"/>
              </a:rPr>
              <a:t>Access specifiers control what's visible: public stays public, protected reachable in derived, private hidden.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257800" y="1422400"/>
            <a:ext cx="3520440" cy="2829560"/>
          </a:xfrm>
          <a:prstGeom prst="rect">
            <a:avLst/>
          </a:prstGeom>
          <a:solidFill>
            <a:schemeClr val="bg1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5486400" y="1612053"/>
            <a:ext cx="3063240" cy="2521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class Animal {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Animal()  { cout &lt;&lt; "A "; }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~Animal() { cout &lt;&lt; "~A "; }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class Dog : public Animal {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Dog()  { cout &lt;&lt; "D "; }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~Dog() { cout &lt;&lt; "~D "; }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200" b="1" dirty="0"/>
          </a:p>
          <a:p>
            <a:pPr marL="0" indent="0">
              <a:buNone/>
            </a:pP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Dog d;  // A D ... ~D ~A</a:t>
            </a:r>
            <a:endParaRPr lang="en-US" sz="1200" b="1" dirty="0"/>
          </a:p>
        </p:txBody>
      </p:sp>
      <p:sp>
        <p:nvSpPr>
          <p:cNvPr id="15" name="Shape 13"/>
          <p:cNvSpPr/>
          <p:nvPr/>
        </p:nvSpPr>
        <p:spPr>
          <a:xfrm>
            <a:off x="365760" y="4343400"/>
            <a:ext cx="841248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Shape 14"/>
          <p:cNvSpPr/>
          <p:nvPr/>
        </p:nvSpPr>
        <p:spPr>
          <a:xfrm>
            <a:off x="365760" y="4343400"/>
            <a:ext cx="137160" cy="4114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658368" y="437083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IDEA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58368" y="4535424"/>
            <a:ext cx="8092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 outside-in (base first); destruct inside-out (derived first).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411480"/>
            <a:ext cx="9144000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 · INHERITANCE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5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50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594360"/>
            <a:ext cx="91440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365760" y="5943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MCQ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9601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With  class B { private: int x; };  class D : public B {}; — inside D, x is: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4023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365760" y="1920240"/>
            <a:ext cx="64008" cy="11430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548640" y="192024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43000" y="192024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0" y="1920240"/>
            <a:ext cx="4023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Shape 12"/>
          <p:cNvSpPr/>
          <p:nvPr/>
        </p:nvSpPr>
        <p:spPr>
          <a:xfrm>
            <a:off x="4572000" y="1920240"/>
            <a:ext cx="64008" cy="11430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/>
          <p:nvPr/>
        </p:nvSpPr>
        <p:spPr>
          <a:xfrm>
            <a:off x="4754880" y="192024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349240" y="192024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3246120"/>
            <a:ext cx="4023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64008" cy="11430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548640" y="324612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143000" y="324612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(still accessible)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0" y="3246120"/>
            <a:ext cx="4023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2" name="Shape 20"/>
          <p:cNvSpPr/>
          <p:nvPr/>
        </p:nvSpPr>
        <p:spPr>
          <a:xfrm>
            <a:off x="4572000" y="3246120"/>
            <a:ext cx="64008" cy="11430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3" name="Text 21"/>
          <p:cNvSpPr/>
          <p:nvPr/>
        </p:nvSpPr>
        <p:spPr>
          <a:xfrm>
            <a:off x="4754880" y="324612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349240" y="324612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Inaccessible to D's members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411480"/>
            <a:ext cx="9144000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 · INHERITANCE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5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50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594360"/>
            <a:ext cx="292608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365760" y="59436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PREDICT THE OUTPUT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9601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does this print?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65760" y="1508760"/>
            <a:ext cx="8412480" cy="3108960"/>
          </a:xfrm>
          <a:prstGeom prst="rect">
            <a:avLst/>
          </a:prstGeom>
          <a:solidFill>
            <a:schemeClr val="bg1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530352" y="1618488"/>
            <a:ext cx="64008" cy="6400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694944" y="1618488"/>
            <a:ext cx="64008" cy="6400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Shape 10"/>
          <p:cNvSpPr/>
          <p:nvPr/>
        </p:nvSpPr>
        <p:spPr>
          <a:xfrm>
            <a:off x="859536" y="1618488"/>
            <a:ext cx="64008" cy="6400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594360" y="1801368"/>
            <a:ext cx="79552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class A {</a:t>
            </a:r>
            <a:endParaRPr lang="en-US" sz="1400" b="1" dirty="0"/>
          </a:p>
          <a:p>
            <a:pPr marL="0" indent="0">
              <a:buNone/>
            </a:pPr>
            <a:r>
              <a:rPr lang="en-US" sz="14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400" b="1" dirty="0"/>
          </a:p>
          <a:p>
            <a:pPr marL="0" indent="0">
              <a:buNone/>
            </a:pPr>
            <a:r>
              <a:rPr lang="en-US" sz="14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A()  { cout &lt;&lt; "A "; }</a:t>
            </a:r>
            <a:endParaRPr lang="en-US" sz="1400" b="1" dirty="0"/>
          </a:p>
          <a:p>
            <a:pPr marL="0" indent="0">
              <a:buNone/>
            </a:pPr>
            <a:r>
              <a:rPr lang="en-US" sz="14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~A() { cout &lt;&lt; "~A "; }</a:t>
            </a:r>
            <a:endParaRPr lang="en-US" sz="1400" b="1" dirty="0"/>
          </a:p>
          <a:p>
            <a:pPr marL="0" indent="0">
              <a:buNone/>
            </a:pPr>
            <a:r>
              <a:rPr lang="en-US" sz="14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400" b="1" dirty="0"/>
          </a:p>
          <a:p>
            <a:pPr marL="0" indent="0">
              <a:buNone/>
            </a:pPr>
            <a:r>
              <a:rPr lang="en-US" sz="14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class B : public A {</a:t>
            </a:r>
            <a:endParaRPr lang="en-US" sz="1400" b="1" dirty="0"/>
          </a:p>
          <a:p>
            <a:pPr marL="0" indent="0">
              <a:buNone/>
            </a:pPr>
            <a:r>
              <a:rPr lang="en-US" sz="14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400" b="1" dirty="0"/>
          </a:p>
          <a:p>
            <a:pPr marL="0" indent="0">
              <a:buNone/>
            </a:pPr>
            <a:r>
              <a:rPr lang="en-US" sz="14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B()  { cout &lt;&lt; "B "; }</a:t>
            </a:r>
            <a:endParaRPr lang="en-US" sz="1400" b="1" dirty="0"/>
          </a:p>
          <a:p>
            <a:pPr marL="0" indent="0">
              <a:buNone/>
            </a:pPr>
            <a:r>
              <a:rPr lang="en-US" sz="14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~B() { cout &lt;&lt; "~B "; }</a:t>
            </a:r>
            <a:endParaRPr lang="en-US" sz="1400" b="1" dirty="0"/>
          </a:p>
          <a:p>
            <a:pPr marL="0" indent="0">
              <a:buNone/>
            </a:pPr>
            <a:r>
              <a:rPr lang="en-US" sz="14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400" b="1" dirty="0"/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r>
              <a:rPr lang="en-US" sz="14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 B obj; }</a:t>
            </a:r>
            <a:endParaRPr lang="en-US" sz="1400" b="1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411480"/>
            <a:ext cx="9144000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 · INHERITANCE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5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/ 50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594360"/>
            <a:ext cx="1005840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365760" y="5943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ANSWER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9601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Answer: D inaccessible  ·  Output: A B ~B ~A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65760" y="1691640"/>
            <a:ext cx="8412480" cy="5486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502920" y="175564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OUTPUT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463040" y="1691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B ~B ~A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2377440"/>
            <a:ext cx="8412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502920" y="2468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2743200"/>
            <a:ext cx="82296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ea typeface="Calibri" pitchFamily="34" charset="-122"/>
                <a:cs typeface="Calibri" pitchFamily="34" charset="-120"/>
              </a:rPr>
              <a:t>• Private members of B are not directly reachable from D — D would need a public/protected accessor or friendship.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ea typeface="Calibri" pitchFamily="34" charset="-122"/>
                <a:cs typeface="Calibri" pitchFamily="34" charset="-120"/>
              </a:rPr>
              <a:t>• Construction: A's ctor runs first, then B's. Output starts "A B ".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ea typeface="Calibri" pitchFamily="34" charset="-122"/>
                <a:cs typeface="Calibri" pitchFamily="34" charset="-120"/>
              </a:rPr>
              <a:t>• When obj goes out of scope, destruction is reverse: ~B then ~A.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ea typeface="Calibri" pitchFamily="34" charset="-122"/>
                <a:cs typeface="Calibri" pitchFamily="34" charset="-120"/>
              </a:rPr>
              <a:t>• Final printed sequence: A B ~B ~A.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→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411480"/>
            <a:ext cx="9144000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 · FUNCTION OVERLOADING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5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50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594360"/>
            <a:ext cx="1097280" cy="2926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365760" y="594360"/>
            <a:ext cx="1178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CONCEPT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96012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Same name, different parameters — compiler picks.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65760" y="1920240"/>
            <a:ext cx="47548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50000"/>
              </a:lnSpc>
              <a:spcAft>
                <a:spcPts val="400"/>
              </a:spcAft>
              <a:buNone/>
            </a:pPr>
            <a:r>
              <a:rPr lang="en-US" sz="1400" dirty="0">
                <a:ea typeface="Calibri" pitchFamily="34" charset="-122"/>
                <a:cs typeface="Calibri" pitchFamily="34" charset="-120"/>
              </a:rPr>
              <a:t>Overloading lets one class expose multiple versions of a method that differ in number or types of parameters. The compiler chooses based on the arguments at the call site.</a:t>
            </a:r>
            <a:endParaRPr lang="en-US" sz="1400" dirty="0"/>
          </a:p>
          <a:p>
            <a:pPr marL="0" indent="0" algn="just">
              <a:lnSpc>
                <a:spcPct val="150000"/>
              </a:lnSpc>
              <a:spcAft>
                <a:spcPts val="400"/>
              </a:spcAft>
              <a:buNone/>
            </a:pPr>
            <a:endParaRPr lang="en-US" sz="1400" dirty="0"/>
          </a:p>
          <a:p>
            <a:pPr marL="0" indent="0" algn="just">
              <a:lnSpc>
                <a:spcPct val="150000"/>
              </a:lnSpc>
              <a:spcAft>
                <a:spcPts val="400"/>
              </a:spcAft>
              <a:buNone/>
            </a:pPr>
            <a:r>
              <a:rPr lang="en-US" sz="1400" dirty="0">
                <a:ea typeface="Calibri" pitchFamily="34" charset="-122"/>
                <a:cs typeface="Calibri" pitchFamily="34" charset="-120"/>
              </a:rPr>
              <a:t>Return type alone does NOT count: two functions that differ only by return type are an error, not an overload.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257800" y="1354667"/>
            <a:ext cx="3520440" cy="2897293"/>
          </a:xfrm>
          <a:prstGeom prst="rect">
            <a:avLst/>
          </a:prstGeom>
          <a:solidFill>
            <a:schemeClr val="bg1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5486400" y="1483360"/>
            <a:ext cx="3063240" cy="264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class Print {</a:t>
            </a:r>
            <a:endParaRPr lang="en-US" sz="12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2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void show(int n){</a:t>
            </a:r>
          </a:p>
          <a:p>
            <a:pPr marL="0" indent="0">
              <a:buNone/>
            </a:pPr>
            <a:r>
              <a:rPr lang="en-US" sz="12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       </a:t>
            </a:r>
            <a:r>
              <a:rPr lang="en-US" sz="1200" b="1" dirty="0" err="1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cout</a:t>
            </a:r>
            <a:r>
              <a:rPr lang="en-US" sz="12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&lt;&lt; "int "; }</a:t>
            </a:r>
            <a:endParaRPr lang="en-US" sz="12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void show(double d){ </a:t>
            </a:r>
          </a:p>
          <a:p>
            <a:pPr marL="0" indent="0">
              <a:buNone/>
            </a:pPr>
            <a:r>
              <a:rPr lang="en-US" sz="12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       </a:t>
            </a:r>
            <a:r>
              <a:rPr lang="en-US" sz="1200" b="1" dirty="0" err="1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cout</a:t>
            </a:r>
            <a:r>
              <a:rPr lang="en-US" sz="12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&lt;&lt; "dbl "; }</a:t>
            </a:r>
            <a:endParaRPr lang="en-US" sz="12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void show(const string&amp; s){ </a:t>
            </a:r>
          </a:p>
          <a:p>
            <a:pPr marL="0" indent="0">
              <a:buNone/>
            </a:pPr>
            <a:r>
              <a:rPr lang="en-US" sz="12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      </a:t>
            </a:r>
            <a:r>
              <a:rPr lang="en-US" sz="1200" b="1" dirty="0" err="1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cout</a:t>
            </a:r>
            <a:r>
              <a:rPr lang="en-US" sz="12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&lt;&lt; "str "; }</a:t>
            </a:r>
            <a:endParaRPr lang="en-US" sz="12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2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2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Print p;</a:t>
            </a:r>
            <a:endParaRPr lang="en-US" sz="12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p.show(7);        // int</a:t>
            </a:r>
            <a:endParaRPr lang="en-US" sz="12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p.show(3.14);     // dbl</a:t>
            </a:r>
            <a:endParaRPr lang="en-US" sz="12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p.show("hi");     // str</a:t>
            </a:r>
            <a:endParaRPr lang="en-US" sz="1200" b="1" dirty="0">
              <a:latin typeface="Consolas" panose="020B0609020204030204" pitchFamily="49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65760" y="4343400"/>
            <a:ext cx="841248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Shape 14"/>
          <p:cNvSpPr/>
          <p:nvPr/>
        </p:nvSpPr>
        <p:spPr>
          <a:xfrm>
            <a:off x="365760" y="4343400"/>
            <a:ext cx="137160" cy="4114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658368" y="437083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IDEA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58368" y="4535424"/>
            <a:ext cx="8092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by parameter list — return type alone is NOT an overload.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411480"/>
            <a:ext cx="9144000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 · FUNCTION OVERLOADING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5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/ 50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594360"/>
            <a:ext cx="91440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365760" y="5943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MCQ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9601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Which pair is NOT a valid overload set?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4023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365760" y="1920240"/>
            <a:ext cx="64008" cy="11430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548640" y="192024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43000" y="192024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void f(int);   void f(double);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0" y="1920240"/>
            <a:ext cx="4023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Shape 12"/>
          <p:cNvSpPr/>
          <p:nvPr/>
        </p:nvSpPr>
        <p:spPr>
          <a:xfrm>
            <a:off x="4572000" y="1920240"/>
            <a:ext cx="64008" cy="11430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/>
          <p:nvPr/>
        </p:nvSpPr>
        <p:spPr>
          <a:xfrm>
            <a:off x="4754880" y="192024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349240" y="192024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void f(int);   void f(int, int);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3246120"/>
            <a:ext cx="4023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64008" cy="11430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548640" y="324612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143000" y="324612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 f(int);   double f(int);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0" y="3246120"/>
            <a:ext cx="4023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2" name="Shape 20"/>
          <p:cNvSpPr/>
          <p:nvPr/>
        </p:nvSpPr>
        <p:spPr>
          <a:xfrm>
            <a:off x="4572000" y="3246120"/>
            <a:ext cx="64008" cy="11430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3" name="Text 21"/>
          <p:cNvSpPr/>
          <p:nvPr/>
        </p:nvSpPr>
        <p:spPr>
          <a:xfrm>
            <a:off x="4754880" y="324612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349240" y="324612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void f(int*);  void f(int&amp;);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411480"/>
            <a:ext cx="9144000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 · FUNCTION OVERLOADING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5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/ 50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594360"/>
            <a:ext cx="292608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365760" y="59436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PREDICT THE OUTPUT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9601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Which message is printed?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65760" y="1508760"/>
            <a:ext cx="8412480" cy="3108960"/>
          </a:xfrm>
          <a:prstGeom prst="rect">
            <a:avLst/>
          </a:prstGeom>
          <a:solidFill>
            <a:schemeClr val="bg1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530352" y="1618488"/>
            <a:ext cx="64008" cy="6400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694944" y="1618488"/>
            <a:ext cx="64008" cy="6400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Shape 10"/>
          <p:cNvSpPr/>
          <p:nvPr/>
        </p:nvSpPr>
        <p:spPr>
          <a:xfrm>
            <a:off x="859536" y="1618488"/>
            <a:ext cx="64008" cy="6400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594360" y="1801368"/>
            <a:ext cx="79552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class Calc {</a:t>
            </a:r>
            <a:endParaRPr lang="en-US" sz="1600" b="1" dirty="0"/>
          </a:p>
          <a:p>
            <a:pPr marL="0" indent="0">
              <a:buNone/>
            </a:pPr>
            <a:r>
              <a:rPr lang="en-US" sz="16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600" b="1" dirty="0"/>
          </a:p>
          <a:p>
            <a:pPr marL="0" indent="0">
              <a:buNone/>
            </a:pPr>
            <a:r>
              <a:rPr lang="en-US" sz="16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op(int a, int b)       { cout &lt;&lt; "ii"; }</a:t>
            </a:r>
            <a:endParaRPr lang="en-US" sz="1600" b="1" dirty="0"/>
          </a:p>
          <a:p>
            <a:pPr marL="0" indent="0">
              <a:buNone/>
            </a:pPr>
            <a:r>
              <a:rPr lang="en-US" sz="16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op(double a, double b) { cout &lt;&lt; "dd"; }</a:t>
            </a:r>
            <a:endParaRPr lang="en-US" sz="1600" b="1" dirty="0"/>
          </a:p>
          <a:p>
            <a:pPr marL="0" indent="0">
              <a:buNone/>
            </a:pPr>
            <a:r>
              <a:rPr lang="en-US" sz="16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op(int a, double b)    { cout &lt;&lt; "id"; }</a:t>
            </a:r>
            <a:endParaRPr lang="en-US" sz="1600" b="1" dirty="0"/>
          </a:p>
          <a:p>
            <a:pPr marL="0" indent="0">
              <a:buNone/>
            </a:pPr>
            <a:r>
              <a:rPr lang="en-US" sz="16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600" b="1" dirty="0"/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16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1600" b="1" dirty="0"/>
          </a:p>
          <a:p>
            <a:pPr marL="0" indent="0">
              <a:buNone/>
            </a:pPr>
            <a:r>
              <a:rPr lang="en-US" sz="16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Calc c;</a:t>
            </a:r>
            <a:endParaRPr lang="en-US" sz="1600" b="1" dirty="0"/>
          </a:p>
          <a:p>
            <a:pPr marL="0" indent="0">
              <a:buNone/>
            </a:pPr>
            <a:r>
              <a:rPr lang="en-US" sz="16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c.op(2, 3.5);</a:t>
            </a:r>
            <a:endParaRPr lang="en-US" sz="1600" b="1" dirty="0"/>
          </a:p>
          <a:p>
            <a:pPr marL="0" indent="0">
              <a:buNone/>
            </a:pPr>
            <a:r>
              <a:rPr lang="en-US" sz="16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b="1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411480"/>
            <a:ext cx="9144000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 · FUNCTION OVERLOADING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5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/ 50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594360"/>
            <a:ext cx="1005840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365760" y="5943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ANSWER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9601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Answer: C is invalid  ·  Output: id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65760" y="1691640"/>
            <a:ext cx="8412480" cy="5486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502920" y="175564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OUTPUT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463040" y="1691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2377440"/>
            <a:ext cx="8412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502920" y="2468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2743200"/>
            <a:ext cx="82296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spcAft>
                <a:spcPts val="600"/>
              </a:spcAft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Two functions cannot differ only in return type — the compiler can't disambiguate at the call site.</a:t>
            </a:r>
            <a:endParaRPr lang="en-US" sz="1600" dirty="0"/>
          </a:p>
          <a:p>
            <a:pPr marL="0" indent="0" algn="just">
              <a:spcAft>
                <a:spcPts val="600"/>
              </a:spcAft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c.op(2, 3.5) has types (int, double), which exactly matches op(int, double).</a:t>
            </a:r>
            <a:endParaRPr lang="en-US" sz="1600" dirty="0"/>
          </a:p>
          <a:p>
            <a:pPr marL="0" indent="0" algn="just">
              <a:spcAft>
                <a:spcPts val="600"/>
              </a:spcAft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If op(int,double) didn't exist, the compiler would seek a conversion and could become ambiguous.</a:t>
            </a:r>
            <a:endParaRPr lang="en-US" sz="1600" dirty="0"/>
          </a:p>
          <a:p>
            <a:pPr marL="0" indent="0" algn="just">
              <a:spcAft>
                <a:spcPts val="600"/>
              </a:spcAft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Overload resolution prefers exact matches &gt; promotions &gt; standard conversions &gt; user conversions.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→</a:t>
            </a:r>
            <a:endParaRPr lang="en-US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411480"/>
            <a:ext cx="9144000" cy="4572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 · OVERRIDE (NON-VIRTUAL)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5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/ 50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59" y="594360"/>
            <a:ext cx="1192107" cy="29260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365760" y="594360"/>
            <a:ext cx="11921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CONCEPT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96012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Without virtual, the call is bound at compile time.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65760" y="1530773"/>
            <a:ext cx="4754880" cy="2721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spcAft>
                <a:spcPts val="400"/>
              </a:spcAft>
              <a:buNone/>
            </a:pPr>
            <a:r>
              <a:rPr lang="en-US" sz="1400" dirty="0">
                <a:ea typeface="Calibri" pitchFamily="34" charset="-122"/>
                <a:cs typeface="Calibri" pitchFamily="34" charset="-120"/>
              </a:rPr>
              <a:t>If a derived class defines a function with the same name as a base function, and base did NOT mark it virtual, you get name hiding with static binding — not polymorphism.</a:t>
            </a:r>
            <a:endParaRPr lang="en-US" sz="1400" dirty="0"/>
          </a:p>
          <a:p>
            <a:pPr marL="0" indent="0" algn="just">
              <a:spcAft>
                <a:spcPts val="400"/>
              </a:spcAft>
              <a:buNone/>
            </a:pPr>
            <a:endParaRPr lang="en-US" sz="1400" dirty="0"/>
          </a:p>
          <a:p>
            <a:pPr marL="0" indent="0" algn="just">
              <a:spcAft>
                <a:spcPts val="400"/>
              </a:spcAft>
              <a:buNone/>
            </a:pPr>
            <a:r>
              <a:rPr lang="en-US" sz="1400" dirty="0">
                <a:ea typeface="Calibri" pitchFamily="34" charset="-122"/>
                <a:cs typeface="Calibri" pitchFamily="34" charset="-120"/>
              </a:rPr>
              <a:t>A Base* pointing to a Derived object will still call Base::f(), because the type of the pointer is what the compiler uses to pick the function.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257800" y="1476587"/>
            <a:ext cx="3520440" cy="2775373"/>
          </a:xfrm>
          <a:prstGeom prst="rect">
            <a:avLst/>
          </a:prstGeom>
          <a:solidFill>
            <a:schemeClr val="bg1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5486400" y="1706880"/>
            <a:ext cx="3063240" cy="2426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class Base {</a:t>
            </a:r>
            <a:endParaRPr lang="en-US" sz="1100" b="1" dirty="0"/>
          </a:p>
          <a:p>
            <a:pPr marL="0" indent="0">
              <a:buNone/>
            </a:pPr>
            <a:r>
              <a:rPr lang="en-US" sz="11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100" b="1" dirty="0"/>
          </a:p>
          <a:p>
            <a:pPr marL="0" indent="0">
              <a:buNone/>
            </a:pPr>
            <a:r>
              <a:rPr lang="en-US" sz="11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greet() { cout &lt;&lt; "Base "; }</a:t>
            </a:r>
            <a:endParaRPr lang="en-US" sz="1100" b="1" dirty="0"/>
          </a:p>
          <a:p>
            <a:pPr marL="0" indent="0">
              <a:buNone/>
            </a:pPr>
            <a:r>
              <a:rPr lang="en-US" sz="11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00" b="1" dirty="0"/>
          </a:p>
          <a:p>
            <a:pPr marL="0" indent="0">
              <a:buNone/>
            </a:pPr>
            <a:r>
              <a:rPr lang="en-US" sz="11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class Derived : public Base {</a:t>
            </a:r>
            <a:endParaRPr lang="en-US" sz="1100" b="1" dirty="0"/>
          </a:p>
          <a:p>
            <a:pPr marL="0" indent="0">
              <a:buNone/>
            </a:pPr>
            <a:r>
              <a:rPr lang="en-US" sz="11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100" b="1" dirty="0"/>
          </a:p>
          <a:p>
            <a:pPr marL="0" indent="0">
              <a:buNone/>
            </a:pPr>
            <a:r>
              <a:rPr lang="en-US" sz="11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greet() { cout &lt;&lt; "Derived "; }</a:t>
            </a:r>
            <a:endParaRPr lang="en-US" sz="1100" b="1" dirty="0"/>
          </a:p>
          <a:p>
            <a:pPr marL="0" indent="0">
              <a:buNone/>
            </a:pPr>
            <a:r>
              <a:rPr lang="en-US" sz="11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00" b="1" dirty="0"/>
          </a:p>
          <a:p>
            <a:pPr marL="0" indent="0">
              <a:buNone/>
            </a:pPr>
            <a:endParaRPr lang="en-US" sz="1100" b="1" dirty="0"/>
          </a:p>
          <a:p>
            <a:pPr marL="0" indent="0">
              <a:buNone/>
            </a:pPr>
            <a:r>
              <a:rPr lang="en-US" sz="11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Derived d;</a:t>
            </a:r>
            <a:endParaRPr lang="en-US" sz="1100" b="1" dirty="0"/>
          </a:p>
          <a:p>
            <a:pPr marL="0" indent="0">
              <a:buNone/>
            </a:pPr>
            <a:r>
              <a:rPr lang="en-US" sz="11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Base* p = &amp;d;</a:t>
            </a:r>
            <a:endParaRPr lang="en-US" sz="1100" b="1" dirty="0"/>
          </a:p>
          <a:p>
            <a:pPr marL="0" indent="0">
              <a:buNone/>
            </a:pPr>
            <a:r>
              <a:rPr lang="en-US" sz="11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p-&gt;greet();    // "Base" (static binding)</a:t>
            </a:r>
            <a:endParaRPr lang="en-US" sz="1100" b="1" dirty="0"/>
          </a:p>
          <a:p>
            <a:pPr marL="0" indent="0">
              <a:buNone/>
            </a:pPr>
            <a:r>
              <a:rPr lang="en-US" sz="11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d.greet();     // "Derived"</a:t>
            </a:r>
            <a:endParaRPr lang="en-US" sz="1100" b="1" dirty="0"/>
          </a:p>
        </p:txBody>
      </p:sp>
      <p:sp>
        <p:nvSpPr>
          <p:cNvPr id="15" name="Shape 13"/>
          <p:cNvSpPr/>
          <p:nvPr/>
        </p:nvSpPr>
        <p:spPr>
          <a:xfrm>
            <a:off x="365760" y="4343400"/>
            <a:ext cx="841248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Shape 14"/>
          <p:cNvSpPr/>
          <p:nvPr/>
        </p:nvSpPr>
        <p:spPr>
          <a:xfrm>
            <a:off x="365760" y="4343400"/>
            <a:ext cx="137160" cy="41148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658368" y="437083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43F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IDEA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58368" y="4535424"/>
            <a:ext cx="8092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virtual → compiler uses the pointer's type, not the object's.</a:t>
            </a:r>
            <a:endParaRPr lang="en-US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411480"/>
            <a:ext cx="9144000" cy="4572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 · OVERRIDE (NON-VIRTUAL)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5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/ 50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594360"/>
            <a:ext cx="91440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365760" y="5943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MCQ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9601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Base::f() is NOT virtual. Derived overrides it. What does  Base* p = new Derived; p-&gt;f();  call?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4023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365760" y="1920240"/>
            <a:ext cx="64008" cy="114300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548640" y="192024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3F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43000" y="192024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Derived::f — runtime polymorphism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0" y="1920240"/>
            <a:ext cx="4023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Shape 12"/>
          <p:cNvSpPr/>
          <p:nvPr/>
        </p:nvSpPr>
        <p:spPr>
          <a:xfrm>
            <a:off x="4572000" y="1920240"/>
            <a:ext cx="64008" cy="114300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/>
          <p:nvPr/>
        </p:nvSpPr>
        <p:spPr>
          <a:xfrm>
            <a:off x="4754880" y="192024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3F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349240" y="192024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Base::f — static binding by pointer type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3246120"/>
            <a:ext cx="4023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64008" cy="114300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548640" y="324612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3F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143000" y="324612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error — ambiguous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0" y="3246120"/>
            <a:ext cx="4023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2" name="Shape 20"/>
          <p:cNvSpPr/>
          <p:nvPr/>
        </p:nvSpPr>
        <p:spPr>
          <a:xfrm>
            <a:off x="4572000" y="3246120"/>
            <a:ext cx="64008" cy="114300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3" name="Text 21"/>
          <p:cNvSpPr/>
          <p:nvPr/>
        </p:nvSpPr>
        <p:spPr>
          <a:xfrm>
            <a:off x="4754880" y="324612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3F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349240" y="324612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Both, sequentially</a:t>
            </a:r>
            <a:endParaRPr lang="en-US" sz="1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411480"/>
            <a:ext cx="9144000" cy="4572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 · OVERRIDE (NON-VIRTUAL)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5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/ 50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594360"/>
            <a:ext cx="292608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365760" y="59436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PREDICT THE OUTPUT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9601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printed?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65760" y="1389888"/>
            <a:ext cx="8412480" cy="3707892"/>
          </a:xfrm>
          <a:prstGeom prst="rect">
            <a:avLst/>
          </a:prstGeom>
          <a:solidFill>
            <a:schemeClr val="bg1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594360" y="1429173"/>
            <a:ext cx="79552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class B {</a:t>
            </a:r>
            <a:endParaRPr lang="en-US" sz="1400" b="1" dirty="0"/>
          </a:p>
          <a:p>
            <a:pPr marL="0" indent="0">
              <a:buNone/>
            </a:pPr>
            <a:r>
              <a:rPr lang="en-US" sz="14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400" b="1" dirty="0"/>
          </a:p>
          <a:p>
            <a:pPr marL="0" indent="0">
              <a:buNone/>
            </a:pPr>
            <a:r>
              <a:rPr lang="en-US" sz="14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hi() { cout &lt;&lt; "B "; }</a:t>
            </a:r>
            <a:endParaRPr lang="en-US" sz="1400" b="1" dirty="0"/>
          </a:p>
          <a:p>
            <a:pPr marL="0" indent="0">
              <a:buNone/>
            </a:pPr>
            <a:r>
              <a:rPr lang="en-US" sz="14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400" b="1" dirty="0"/>
          </a:p>
          <a:p>
            <a:pPr marL="0" indent="0">
              <a:buNone/>
            </a:pPr>
            <a:r>
              <a:rPr lang="en-US" sz="14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class D : public B {</a:t>
            </a:r>
            <a:endParaRPr lang="en-US" sz="1400" b="1" dirty="0"/>
          </a:p>
          <a:p>
            <a:pPr marL="0" indent="0">
              <a:buNone/>
            </a:pPr>
            <a:r>
              <a:rPr lang="en-US" sz="14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400" b="1" dirty="0"/>
          </a:p>
          <a:p>
            <a:pPr marL="0" indent="0">
              <a:buNone/>
            </a:pPr>
            <a:r>
              <a:rPr lang="en-US" sz="14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hi() { cout &lt;&lt; "D "; }</a:t>
            </a:r>
            <a:endParaRPr lang="en-US" sz="1400" b="1" dirty="0"/>
          </a:p>
          <a:p>
            <a:pPr marL="0" indent="0">
              <a:buNone/>
            </a:pPr>
            <a:r>
              <a:rPr lang="en-US" sz="14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400" b="1" dirty="0"/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r>
              <a:rPr lang="en-US" sz="14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1400" b="1" dirty="0"/>
          </a:p>
          <a:p>
            <a:pPr marL="0" indent="0">
              <a:buNone/>
            </a:pPr>
            <a:r>
              <a:rPr lang="en-US" sz="14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D d;</a:t>
            </a:r>
            <a:endParaRPr lang="en-US" sz="1400" b="1" dirty="0"/>
          </a:p>
          <a:p>
            <a:pPr marL="0" indent="0">
              <a:buNone/>
            </a:pPr>
            <a:r>
              <a:rPr lang="en-US" sz="14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B* p = &amp;d;</a:t>
            </a:r>
            <a:endParaRPr lang="en-US" sz="1400" b="1" dirty="0"/>
          </a:p>
          <a:p>
            <a:pPr marL="0" indent="0">
              <a:buNone/>
            </a:pPr>
            <a:r>
              <a:rPr lang="en-US" sz="14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B&amp; r = d;</a:t>
            </a:r>
            <a:endParaRPr lang="en-US" sz="1400" b="1" dirty="0"/>
          </a:p>
          <a:p>
            <a:pPr marL="0" indent="0">
              <a:buNone/>
            </a:pPr>
            <a:r>
              <a:rPr lang="en-US" sz="14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d.hi();</a:t>
            </a:r>
            <a:endParaRPr lang="en-US" sz="1400" b="1" dirty="0"/>
          </a:p>
          <a:p>
            <a:pPr marL="0" indent="0">
              <a:buNone/>
            </a:pPr>
            <a:r>
              <a:rPr lang="en-US" sz="14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p-&gt;hi();</a:t>
            </a:r>
            <a:endParaRPr lang="en-US" sz="1400" b="1" dirty="0"/>
          </a:p>
          <a:p>
            <a:pPr marL="0" indent="0">
              <a:buNone/>
            </a:pPr>
            <a:r>
              <a:rPr lang="en-US" sz="14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r.hi();</a:t>
            </a:r>
            <a:endParaRPr lang="en-US" sz="1400" b="1" dirty="0"/>
          </a:p>
          <a:p>
            <a:pPr marL="0" indent="0">
              <a:buNone/>
            </a:pPr>
            <a:r>
              <a:rPr lang="en-US" sz="14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b="1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411480"/>
            <a:ext cx="9144000" cy="4572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 · OVERRIDE (NON-VIRTUAL)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5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/ 50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594360"/>
            <a:ext cx="1005840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365760" y="5943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ANSWER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9601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Answer: B  ·  Output: D B B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65760" y="1691640"/>
            <a:ext cx="8412480" cy="5486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502920" y="175564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OUTPUT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463040" y="1691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B B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2377440"/>
            <a:ext cx="8412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502920" y="2468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43F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2743200"/>
            <a:ext cx="82296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spcAft>
                <a:spcPts val="600"/>
              </a:spcAft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d.hi() — d is a Derived; calls D::hi → "D".</a:t>
            </a:r>
            <a:endParaRPr lang="en-US" sz="1400" dirty="0"/>
          </a:p>
          <a:p>
            <a:pPr marL="0" indent="0" algn="just">
              <a:spcAft>
                <a:spcPts val="600"/>
              </a:spcAft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p-&gt;hi() — p is Base*. Without virtual, the static type Base wins → "B".</a:t>
            </a:r>
            <a:endParaRPr lang="en-US" sz="1400" dirty="0"/>
          </a:p>
          <a:p>
            <a:pPr marL="0" indent="0" algn="just">
              <a:spcAft>
                <a:spcPts val="600"/>
              </a:spcAft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r.hi() — same story: r is a Base&amp;, so Base::hi is called → "B".</a:t>
            </a:r>
            <a:endParaRPr lang="en-US" sz="1400" dirty="0"/>
          </a:p>
          <a:p>
            <a:pPr marL="0" indent="0" algn="just">
              <a:spcAft>
                <a:spcPts val="600"/>
              </a:spcAft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Add  virtual void hi();  in B and all three calls would print "D".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→</a:t>
            </a:r>
            <a:endParaRPr lang="en-US" sz="11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411480"/>
            <a:ext cx="9144000" cy="4572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MIXED CHALLENGES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5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/ 50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594360"/>
            <a:ext cx="1828800" cy="29260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365760" y="5943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CHALLENGE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9601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many objects exist at line ★ ?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65760" y="1508760"/>
            <a:ext cx="8412480" cy="3154680"/>
          </a:xfrm>
          <a:prstGeom prst="rect">
            <a:avLst/>
          </a:prstGeom>
          <a:solidFill>
            <a:schemeClr val="bg1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530352" y="1618488"/>
            <a:ext cx="64008" cy="6400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694944" y="1618488"/>
            <a:ext cx="64008" cy="6400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Shape 10"/>
          <p:cNvSpPr/>
          <p:nvPr/>
        </p:nvSpPr>
        <p:spPr>
          <a:xfrm>
            <a:off x="859536" y="1618488"/>
            <a:ext cx="64008" cy="6400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594360" y="1801368"/>
            <a:ext cx="7955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class Item {</a:t>
            </a:r>
            <a:endParaRPr lang="en-US" sz="13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3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3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3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Item()           { cout &lt;&lt; "+"; }</a:t>
            </a:r>
            <a:endParaRPr lang="en-US" sz="13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3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Item(const Item&amp;){ cout &lt;&lt; "+"; }</a:t>
            </a:r>
            <a:endParaRPr lang="en-US" sz="13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3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~Item()          { cout &lt;&lt; "-"; }</a:t>
            </a:r>
            <a:endParaRPr lang="en-US" sz="13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3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3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3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3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void take(Item x) { /* x is local */ }</a:t>
            </a:r>
            <a:endParaRPr lang="en-US" sz="13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3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3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13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3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Item a;</a:t>
            </a:r>
            <a:endParaRPr lang="en-US" sz="13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3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take(a);</a:t>
            </a:r>
            <a:endParaRPr lang="en-US" sz="13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3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Item b = a;          // ★</a:t>
            </a:r>
            <a:endParaRPr lang="en-US" sz="13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3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b="1" dirty="0">
              <a:latin typeface="Consolas" panose="020B0609020204030204" pitchFamily="49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the unmatched + symbols up to ★.</a:t>
            </a:r>
            <a:endParaRPr lang="en-US" sz="11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411480"/>
            <a:ext cx="9144000" cy="4572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MIXED CHALLENGES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5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/ 50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594360"/>
            <a:ext cx="1005840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365760" y="5943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ANSWER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9601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Answer: 2 objects alive at ★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65760" y="1691640"/>
            <a:ext cx="8412480" cy="5486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502920" y="175564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OUTPUT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463040" y="1691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 +-  +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2377440"/>
            <a:ext cx="8412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502920" y="2468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43F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2743200"/>
            <a:ext cx="82296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Item a; runs the default ctor → "+". Alive: {a}.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take(a) copies a into x ("+"); when take returns, x is destroyed ("-"). Net change: 0.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Item b = a; copy-constructs b from a ("+"). Alive: {a, b}.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At line ★ the program holds exactly two live Item objects.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→</a:t>
            </a:r>
            <a:endParaRPr lang="en-US" sz="11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411480"/>
            <a:ext cx="9144000" cy="4572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MIXED CHALLENGES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5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/ 50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594360"/>
            <a:ext cx="1828800" cy="29260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365760" y="5943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CHALLENGE 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560320" y="5003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Predict the printed sequence.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65760" y="1011845"/>
            <a:ext cx="8412480" cy="3824732"/>
          </a:xfrm>
          <a:prstGeom prst="rect">
            <a:avLst/>
          </a:prstGeom>
          <a:solidFill>
            <a:schemeClr val="bg1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594360" y="1057239"/>
            <a:ext cx="7955280" cy="33879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class A {</a:t>
            </a:r>
            <a:endParaRPr lang="en-US" sz="13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3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3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3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A()  { cout &lt;&lt; "A "; }</a:t>
            </a:r>
            <a:endParaRPr lang="en-US" sz="13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3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~A() { cout &lt;&lt; "~A "; }</a:t>
            </a:r>
            <a:endParaRPr lang="en-US" sz="13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3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void say() { cout &lt;&lt; "a "; }</a:t>
            </a:r>
            <a:endParaRPr lang="en-US" sz="13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3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3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3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class B : public A {</a:t>
            </a:r>
            <a:endParaRPr lang="en-US" sz="13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3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3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3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B()  { cout &lt;&lt; "B "; }</a:t>
            </a:r>
            <a:endParaRPr lang="en-US" sz="13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3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~B() { cout &lt;&lt; "~B "; }</a:t>
            </a:r>
            <a:endParaRPr lang="en-US" sz="13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3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void say() { cout &lt;&lt; "b "; }</a:t>
            </a:r>
            <a:endParaRPr lang="en-US" sz="13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3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3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3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3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13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3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B obj;</a:t>
            </a:r>
            <a:endParaRPr lang="en-US" sz="13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3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A* p = &amp;obj;</a:t>
            </a:r>
            <a:endParaRPr lang="en-US" sz="13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3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obj.say();</a:t>
            </a:r>
            <a:endParaRPr lang="en-US" sz="13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3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p-&gt;say();</a:t>
            </a:r>
            <a:endParaRPr lang="en-US" sz="13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3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b="1" dirty="0">
              <a:latin typeface="Consolas" panose="020B0609020204030204" pitchFamily="49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ideas mix here: ctor/dtor order and non-virtual binding.</a:t>
            </a:r>
            <a:endParaRPr lang="en-US" sz="11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411480"/>
            <a:ext cx="9144000" cy="4572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MIXED CHALLENGES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5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/ 50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594360"/>
            <a:ext cx="1005840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365760" y="5943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ANSWER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9601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Answer: A B b a ~B ~A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65760" y="1691640"/>
            <a:ext cx="8412480" cy="5486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502920" y="175564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OUTPUT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463040" y="1691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B b a ~B ~A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2377440"/>
            <a:ext cx="8412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502920" y="2468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43F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2743200"/>
            <a:ext cx="82296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Construction goes base → derived: A then B → "A B ".</a:t>
            </a:r>
            <a:endParaRPr lang="en-US" sz="1400" dirty="0"/>
          </a:p>
          <a:p>
            <a:pPr marL="0" indent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obj.say() — obj is a B; calls B::say → "b ".</a:t>
            </a:r>
            <a:endParaRPr lang="en-US" sz="1400" dirty="0"/>
          </a:p>
          <a:p>
            <a:pPr marL="0" indent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p-&gt;say() — p is A*. say isn't virtual, so static binding picks A::say → "a ".</a:t>
            </a:r>
            <a:endParaRPr lang="en-US" sz="1400" dirty="0"/>
          </a:p>
          <a:p>
            <a:pPr marL="0" indent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obj goes out of scope: derived dtor first, base last → "~B ~A".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→</a:t>
            </a:r>
            <a:endParaRPr lang="en-US" sz="11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411480"/>
            <a:ext cx="9144000" cy="4572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MIXED CHALLENGES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5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/ 50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594360"/>
            <a:ext cx="1828800" cy="29260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365760" y="5943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CHALLENGE 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9601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does line ★ fail to compile?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65760" y="1508760"/>
            <a:ext cx="4937760" cy="3154680"/>
          </a:xfrm>
          <a:prstGeom prst="rect">
            <a:avLst/>
          </a:prstGeom>
          <a:solidFill>
            <a:schemeClr val="bg1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594360" y="1801368"/>
            <a:ext cx="4480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class Box {</a:t>
            </a:r>
            <a:endParaRPr lang="en-US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int n = 0;</a:t>
            </a:r>
            <a:endParaRPr lang="en-US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int  peek() const { return n; }</a:t>
            </a:r>
            <a:endParaRPr lang="en-US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void poke()       { n++; }</a:t>
            </a:r>
            <a:endParaRPr lang="en-US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void inspect(const Box&amp; b) {</a:t>
            </a:r>
            <a:endParaRPr lang="en-US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cout &lt;&lt; b.peek();   // OK</a:t>
            </a:r>
            <a:endParaRPr lang="en-US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b.poke();           // ★</a:t>
            </a:r>
            <a:endParaRPr lang="en-US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b="1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9E8DFA-C1AA-0FD5-0329-C01B6F723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7E8B896-6189-79E7-7576-BC0F4F5C3569}"/>
              </a:ext>
            </a:extLst>
          </p:cNvPr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77179EF-A52E-2871-3051-239E0D92AC32}"/>
              </a:ext>
            </a:extLst>
          </p:cNvPr>
          <p:cNvSpPr/>
          <p:nvPr/>
        </p:nvSpPr>
        <p:spPr>
          <a:xfrm>
            <a:off x="0" y="411480"/>
            <a:ext cx="9144000" cy="4572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05A0887-AD6B-B24E-3141-8211B96F1904}"/>
              </a:ext>
            </a:extLst>
          </p:cNvPr>
          <p:cNvSpPr/>
          <p:nvPr/>
        </p:nvSpPr>
        <p:spPr>
          <a:xfrm>
            <a:off x="365760" y="45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MIXED CHALLENGES</a:t>
            </a:r>
            <a:endParaRPr lang="en-US" sz="11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40CEC53-211C-69DC-297C-EF1232D34C1C}"/>
              </a:ext>
            </a:extLst>
          </p:cNvPr>
          <p:cNvSpPr/>
          <p:nvPr/>
        </p:nvSpPr>
        <p:spPr>
          <a:xfrm>
            <a:off x="7772400" y="45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/ 50</a:t>
            </a:r>
            <a:endParaRPr lang="en-US" sz="11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99CEF62-FF60-461B-A980-5B195E678D95}"/>
              </a:ext>
            </a:extLst>
          </p:cNvPr>
          <p:cNvSpPr/>
          <p:nvPr/>
        </p:nvSpPr>
        <p:spPr>
          <a:xfrm>
            <a:off x="365760" y="594360"/>
            <a:ext cx="1828800" cy="29260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2F27893-56A4-838B-144F-3BFC60F80220}"/>
              </a:ext>
            </a:extLst>
          </p:cNvPr>
          <p:cNvSpPr/>
          <p:nvPr/>
        </p:nvSpPr>
        <p:spPr>
          <a:xfrm>
            <a:off x="365760" y="5943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CHALLENGE 3</a:t>
            </a:r>
            <a:endParaRPr lang="en-US" sz="10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7957501-F17C-B6C4-9DBB-4EB7FA6F79AD}"/>
              </a:ext>
            </a:extLst>
          </p:cNvPr>
          <p:cNvSpPr/>
          <p:nvPr/>
        </p:nvSpPr>
        <p:spPr>
          <a:xfrm>
            <a:off x="365760" y="9601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does line ★ fail to compile?</a:t>
            </a:r>
            <a:endParaRPr lang="en-US" sz="20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BDD94615-5E90-8CC8-88A0-A924758CCCD7}"/>
              </a:ext>
            </a:extLst>
          </p:cNvPr>
          <p:cNvSpPr/>
          <p:nvPr/>
        </p:nvSpPr>
        <p:spPr>
          <a:xfrm>
            <a:off x="365760" y="1508760"/>
            <a:ext cx="4937760" cy="3154680"/>
          </a:xfrm>
          <a:prstGeom prst="rect">
            <a:avLst/>
          </a:prstGeom>
          <a:solidFill>
            <a:schemeClr val="bg1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91D8965-B648-549B-6B86-7BEF99F015C1}"/>
              </a:ext>
            </a:extLst>
          </p:cNvPr>
          <p:cNvSpPr/>
          <p:nvPr/>
        </p:nvSpPr>
        <p:spPr>
          <a:xfrm>
            <a:off x="594360" y="1801368"/>
            <a:ext cx="4480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class Box {</a:t>
            </a:r>
            <a:endParaRPr lang="en-US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int n = 0;</a:t>
            </a:r>
            <a:endParaRPr lang="en-US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int  peek() const { return n; }</a:t>
            </a:r>
            <a:endParaRPr lang="en-US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void poke()       { n++; }</a:t>
            </a:r>
            <a:endParaRPr lang="en-US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void inspect(const Box&amp; b) {</a:t>
            </a:r>
            <a:endParaRPr lang="en-US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cout &lt;&lt; b.peek();   // OK</a:t>
            </a:r>
            <a:endParaRPr lang="en-US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b.poke();           // ★</a:t>
            </a:r>
            <a:endParaRPr lang="en-US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1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b="1" dirty="0">
              <a:latin typeface="Consolas" panose="020B0609020204030204" pitchFamily="49" charset="0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38313C03-0D55-A1D0-9D65-74F7B9C2AB5E}"/>
              </a:ext>
            </a:extLst>
          </p:cNvPr>
          <p:cNvSpPr/>
          <p:nvPr/>
        </p:nvSpPr>
        <p:spPr>
          <a:xfrm>
            <a:off x="5440680" y="1508760"/>
            <a:ext cx="333756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ACCC932E-EB7D-85AF-D08F-7C4F740E235A}"/>
              </a:ext>
            </a:extLst>
          </p:cNvPr>
          <p:cNvSpPr/>
          <p:nvPr/>
        </p:nvSpPr>
        <p:spPr>
          <a:xfrm>
            <a:off x="5440680" y="1508760"/>
            <a:ext cx="109728" cy="3154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B697070-EA69-5D4B-6564-FE758CA016EA}"/>
              </a:ext>
            </a:extLst>
          </p:cNvPr>
          <p:cNvSpPr/>
          <p:nvPr/>
        </p:nvSpPr>
        <p:spPr>
          <a:xfrm>
            <a:off x="5650992" y="16276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ANSWER</a:t>
            </a:r>
            <a:endParaRPr lang="en-US" sz="10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EBFFA121-2CAA-9BC8-1BD9-77DAE990D211}"/>
              </a:ext>
            </a:extLst>
          </p:cNvPr>
          <p:cNvSpPr/>
          <p:nvPr/>
        </p:nvSpPr>
        <p:spPr>
          <a:xfrm>
            <a:off x="5650992" y="19202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poke() is non-const.</a:t>
            </a:r>
            <a:endParaRPr lang="en-US" sz="16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76643F5-586E-DE91-7F20-6BFE1D271244}"/>
              </a:ext>
            </a:extLst>
          </p:cNvPr>
          <p:cNvSpPr/>
          <p:nvPr/>
        </p:nvSpPr>
        <p:spPr>
          <a:xfrm>
            <a:off x="5650992" y="2331720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spcAft>
                <a:spcPts val="4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 is a const Box&amp; — the compiler treats b as read-only.</a:t>
            </a:r>
            <a:endParaRPr lang="en-US" sz="1200" dirty="0"/>
          </a:p>
          <a:p>
            <a:pPr marL="0" indent="0" algn="just">
              <a:spcAft>
                <a:spcPts val="4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 a const object, only methods marked  const  are callable.</a:t>
            </a:r>
            <a:endParaRPr lang="en-US" sz="1200" dirty="0"/>
          </a:p>
          <a:p>
            <a:pPr marL="0" indent="0" algn="just">
              <a:spcAft>
                <a:spcPts val="4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peek() is const → ✓ allowed.</a:t>
            </a:r>
            <a:endParaRPr lang="en-US" sz="1200" dirty="0"/>
          </a:p>
          <a:p>
            <a:pPr marL="0" indent="0" algn="just">
              <a:spcAft>
                <a:spcPts val="4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poke() is NOT const (it mutates n) → ✗ rejected.</a:t>
            </a:r>
            <a:endParaRPr lang="en-US" sz="1200" dirty="0"/>
          </a:p>
          <a:p>
            <a:pPr marL="0" indent="0" algn="just">
              <a:spcAft>
                <a:spcPts val="4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Fix: declare  void poke() const  if it shouldn't mutate, or pass b by non-const reference.</a:t>
            </a:r>
            <a:endParaRPr lang="en-US" sz="12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48384A0D-5A3B-174D-743D-661B1463EDED}"/>
              </a:ext>
            </a:extLst>
          </p:cNvPr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Const-correctness is a compile-time contract.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12905213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411480"/>
            <a:ext cx="914400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7772400" y="45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/ 50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 rules. Memorize these.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4160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64008" cy="5029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/>
          <p:nvPr/>
        </p:nvSpPr>
        <p:spPr>
          <a:xfrm>
            <a:off x="548640" y="1225296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Object pointer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435608"/>
            <a:ext cx="3886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p-&gt;m  ≡  (*p).m. Arrow only with pointers.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783080"/>
            <a:ext cx="4160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Shape 10"/>
          <p:cNvSpPr/>
          <p:nvPr/>
        </p:nvSpPr>
        <p:spPr>
          <a:xfrm>
            <a:off x="365760" y="1783080"/>
            <a:ext cx="64008" cy="5029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548640" y="1819656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Array pointer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2029968"/>
            <a:ext cx="3886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name decays to pointer to first element.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377440"/>
            <a:ext cx="4160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Shape 14"/>
          <p:cNvSpPr/>
          <p:nvPr/>
        </p:nvSpPr>
        <p:spPr>
          <a:xfrm>
            <a:off x="365760" y="2377440"/>
            <a:ext cx="64008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548640" y="2414016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Pass by value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2624328"/>
            <a:ext cx="3886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ctor runs. Function works on a copy.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971800"/>
            <a:ext cx="4160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0" name="Shape 18"/>
          <p:cNvSpPr/>
          <p:nvPr/>
        </p:nvSpPr>
        <p:spPr>
          <a:xfrm>
            <a:off x="365760" y="2971800"/>
            <a:ext cx="64008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1" name="Text 19"/>
          <p:cNvSpPr/>
          <p:nvPr/>
        </p:nvSpPr>
        <p:spPr>
          <a:xfrm>
            <a:off x="548640" y="3008376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Pass by reference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3218688"/>
            <a:ext cx="3886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copy. Caller's object can change.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566160"/>
            <a:ext cx="4160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4" name="Shape 22"/>
          <p:cNvSpPr/>
          <p:nvPr/>
        </p:nvSpPr>
        <p:spPr>
          <a:xfrm>
            <a:off x="365760" y="3566160"/>
            <a:ext cx="64008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5" name="Text 23"/>
          <p:cNvSpPr/>
          <p:nvPr/>
        </p:nvSpPr>
        <p:spPr>
          <a:xfrm>
            <a:off x="548640" y="3602736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Pass const object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3813048"/>
            <a:ext cx="3886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const member functions are callable.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4160520"/>
            <a:ext cx="4160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8" name="Shape 26"/>
          <p:cNvSpPr/>
          <p:nvPr/>
        </p:nvSpPr>
        <p:spPr>
          <a:xfrm>
            <a:off x="365760" y="4160520"/>
            <a:ext cx="64008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9" name="Text 27"/>
          <p:cNvSpPr/>
          <p:nvPr/>
        </p:nvSpPr>
        <p:spPr>
          <a:xfrm>
            <a:off x="548640" y="4197096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Return by reference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4407408"/>
            <a:ext cx="3886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return reference to a local — UB!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09160" y="1188720"/>
            <a:ext cx="4160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2" name="Shape 30"/>
          <p:cNvSpPr/>
          <p:nvPr/>
        </p:nvSpPr>
        <p:spPr>
          <a:xfrm>
            <a:off x="4709160" y="1188720"/>
            <a:ext cx="64008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3" name="Text 31"/>
          <p:cNvSpPr/>
          <p:nvPr/>
        </p:nvSpPr>
        <p:spPr>
          <a:xfrm>
            <a:off x="4892040" y="1225296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Return *this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92040" y="1435608"/>
            <a:ext cx="3886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fluent chaining a.set(1).set(2).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09160" y="1783080"/>
            <a:ext cx="4160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6" name="Shape 34"/>
          <p:cNvSpPr/>
          <p:nvPr/>
        </p:nvSpPr>
        <p:spPr>
          <a:xfrm>
            <a:off x="4709160" y="1783080"/>
            <a:ext cx="64008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7" name="Text 35"/>
          <p:cNvSpPr/>
          <p:nvPr/>
        </p:nvSpPr>
        <p:spPr>
          <a:xfrm>
            <a:off x="4892040" y="1819656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Return const object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92040" y="2029968"/>
            <a:ext cx="3886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 cannot modify the returned object.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709160" y="2377440"/>
            <a:ext cx="4160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0" name="Shape 38"/>
          <p:cNvSpPr/>
          <p:nvPr/>
        </p:nvSpPr>
        <p:spPr>
          <a:xfrm>
            <a:off x="4709160" y="2377440"/>
            <a:ext cx="64008" cy="5029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1" name="Text 39"/>
          <p:cNvSpPr/>
          <p:nvPr/>
        </p:nvSpPr>
        <p:spPr>
          <a:xfrm>
            <a:off x="4892040" y="2414016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Inheritance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892040" y="2624328"/>
            <a:ext cx="3886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ctor first; derived ctor last. Reverse for dtor.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709160" y="2971800"/>
            <a:ext cx="4160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4" name="Shape 42"/>
          <p:cNvSpPr/>
          <p:nvPr/>
        </p:nvSpPr>
        <p:spPr>
          <a:xfrm>
            <a:off x="4709160" y="2971800"/>
            <a:ext cx="64008" cy="5029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5" name="Text 43"/>
          <p:cNvSpPr/>
          <p:nvPr/>
        </p:nvSpPr>
        <p:spPr>
          <a:xfrm>
            <a:off x="4892040" y="3008376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Function overloading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892040" y="3218688"/>
            <a:ext cx="3886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name, different parameter list (not return type).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709160" y="3566160"/>
            <a:ext cx="4160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8" name="Shape 46"/>
          <p:cNvSpPr/>
          <p:nvPr/>
        </p:nvSpPr>
        <p:spPr>
          <a:xfrm>
            <a:off x="4709160" y="3566160"/>
            <a:ext cx="64008" cy="50292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9" name="Text 47"/>
          <p:cNvSpPr/>
          <p:nvPr/>
        </p:nvSpPr>
        <p:spPr>
          <a:xfrm>
            <a:off x="4892040" y="3602736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3F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Override (no virtual)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892040" y="3813048"/>
            <a:ext cx="3886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binding — base pointer calls Base::f, not Derived::f.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5013</Words>
  <Application>Microsoft Office PowerPoint</Application>
  <PresentationFormat>On-screen Show (16:9)</PresentationFormat>
  <Paragraphs>827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5" baseType="lpstr">
      <vt:lpstr>Arial</vt:lpstr>
      <vt:lpstr>Arial Black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C++ OOP — Interactive Practice</dc:title>
  <dc:subject>PptxGenJS Presentation</dc:subject>
  <dc:creator>Cowork</dc:creator>
  <cp:lastModifiedBy>Shaban Ghias Satti</cp:lastModifiedBy>
  <cp:revision>54</cp:revision>
  <dcterms:created xsi:type="dcterms:W3CDTF">2026-04-29T20:14:01Z</dcterms:created>
  <dcterms:modified xsi:type="dcterms:W3CDTF">2026-04-30T04:48:23Z</dcterms:modified>
</cp:coreProperties>
</file>